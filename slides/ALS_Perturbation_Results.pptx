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370012" y="577453"/>
            <a:ext cx="7315201" cy="12513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5103812" y="1828800"/>
            <a:ext cx="3581401" cy="3314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6294581" y="4643112"/>
            <a:ext cx="258621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-1" y="0"/>
            <a:ext cx="164594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" name="Shape 1"/>
          <p:cNvSpPr/>
          <p:nvPr/>
        </p:nvSpPr>
        <p:spPr>
          <a:xfrm>
            <a:off x="164589" y="3291840"/>
            <a:ext cx="8979414" cy="54867"/>
          </a:xfrm>
          <a:prstGeom prst="rect">
            <a:avLst/>
          </a:prstGeom>
          <a:solidFill>
            <a:srgbClr val="17A8A7"/>
          </a:solidFill>
          <a:ln w="12700">
            <a:solidFill>
              <a:srgbClr val="17A8A7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" name="Text 2"/>
          <p:cNvSpPr txBox="1"/>
          <p:nvPr/>
        </p:nvSpPr>
        <p:spPr>
          <a:xfrm>
            <a:off x="411479" y="799752"/>
            <a:ext cx="8412482" cy="457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Gene Knockout Analysis with Embeddings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411479" y="1642679"/>
            <a:ext cx="8412482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17A8A7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In-Silico ALS Perturbation · GeneFormer V2 · Motor Cortex Single-Cell Analysis</a:t>
            </a:r>
          </a:p>
        </p:txBody>
      </p:sp>
      <p:sp>
        <p:nvSpPr>
          <p:cNvPr id="24" name="Shape 4"/>
          <p:cNvSpPr/>
          <p:nvPr/>
        </p:nvSpPr>
        <p:spPr>
          <a:xfrm>
            <a:off x="411479" y="2057400"/>
            <a:ext cx="4114802" cy="0"/>
          </a:xfrm>
          <a:prstGeom prst="line">
            <a:avLst/>
          </a:prstGeom>
          <a:ln w="19050">
            <a:solidFill>
              <a:srgbClr val="0E7C7B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5" name="Shape 5"/>
          <p:cNvSpPr/>
          <p:nvPr/>
        </p:nvSpPr>
        <p:spPr>
          <a:xfrm>
            <a:off x="411479" y="2377438"/>
            <a:ext cx="1965962" cy="1097282"/>
          </a:xfrm>
          <a:prstGeom prst="rect">
            <a:avLst/>
          </a:prstGeom>
          <a:solidFill>
            <a:srgbClr val="0E3A5C"/>
          </a:solidFill>
          <a:ln w="12700">
            <a:solidFill>
              <a:srgbClr val="0E7C7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" name="Shape 6"/>
          <p:cNvSpPr/>
          <p:nvPr/>
        </p:nvSpPr>
        <p:spPr>
          <a:xfrm>
            <a:off x="411479" y="2377438"/>
            <a:ext cx="1965962" cy="27432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" name="Text 7"/>
          <p:cNvSpPr txBox="1"/>
          <p:nvPr/>
        </p:nvSpPr>
        <p:spPr>
          <a:xfrm>
            <a:off x="411479" y="2451099"/>
            <a:ext cx="19659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Task 1</a:t>
            </a:r>
          </a:p>
        </p:txBody>
      </p:sp>
      <p:sp>
        <p:nvSpPr>
          <p:cNvPr id="28" name="Text 8"/>
          <p:cNvSpPr txBox="1"/>
          <p:nvPr/>
        </p:nvSpPr>
        <p:spPr>
          <a:xfrm>
            <a:off x="457198" y="2912154"/>
            <a:ext cx="1874523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000">
                <a:solidFill>
                  <a:srgbClr val="B8D4E8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Perturbation</a:t>
            </a:r>
          </a:p>
          <a:p>
            <a:pPr algn="ctr">
              <a:defRPr sz="1000">
                <a:solidFill>
                  <a:srgbClr val="B8D4E8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Workflow Design</a:t>
            </a:r>
          </a:p>
        </p:txBody>
      </p:sp>
      <p:sp>
        <p:nvSpPr>
          <p:cNvPr id="29" name="Shape 9"/>
          <p:cNvSpPr/>
          <p:nvPr/>
        </p:nvSpPr>
        <p:spPr>
          <a:xfrm>
            <a:off x="2587749" y="2377438"/>
            <a:ext cx="1965963" cy="1097282"/>
          </a:xfrm>
          <a:prstGeom prst="rect">
            <a:avLst/>
          </a:prstGeom>
          <a:solidFill>
            <a:srgbClr val="0E3A5C"/>
          </a:solidFill>
          <a:ln w="12700">
            <a:solidFill>
              <a:srgbClr val="0E7C7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" name="Shape 10"/>
          <p:cNvSpPr/>
          <p:nvPr/>
        </p:nvSpPr>
        <p:spPr>
          <a:xfrm>
            <a:off x="2587749" y="2377438"/>
            <a:ext cx="1965963" cy="27432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" name="Text 11"/>
          <p:cNvSpPr txBox="1"/>
          <p:nvPr/>
        </p:nvSpPr>
        <p:spPr>
          <a:xfrm>
            <a:off x="2587749" y="2451099"/>
            <a:ext cx="196596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Task 2</a:t>
            </a:r>
          </a:p>
        </p:txBody>
      </p:sp>
      <p:sp>
        <p:nvSpPr>
          <p:cNvPr id="32" name="Text 12"/>
          <p:cNvSpPr txBox="1"/>
          <p:nvPr/>
        </p:nvSpPr>
        <p:spPr>
          <a:xfrm>
            <a:off x="2633471" y="2912154"/>
            <a:ext cx="1874524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000">
                <a:solidFill>
                  <a:srgbClr val="B8D4E8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ALS Gene</a:t>
            </a:r>
          </a:p>
          <a:p>
            <a:pPr algn="ctr">
              <a:defRPr sz="1000">
                <a:solidFill>
                  <a:srgbClr val="B8D4E8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Perturbations</a:t>
            </a:r>
          </a:p>
        </p:txBody>
      </p:sp>
      <p:sp>
        <p:nvSpPr>
          <p:cNvPr id="33" name="Shape 13"/>
          <p:cNvSpPr/>
          <p:nvPr/>
        </p:nvSpPr>
        <p:spPr>
          <a:xfrm>
            <a:off x="4764023" y="2377438"/>
            <a:ext cx="1965963" cy="1097282"/>
          </a:xfrm>
          <a:prstGeom prst="rect">
            <a:avLst/>
          </a:prstGeom>
          <a:solidFill>
            <a:srgbClr val="0E3A5C"/>
          </a:solidFill>
          <a:ln w="12700">
            <a:solidFill>
              <a:srgbClr val="0E7C7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" name="Shape 14"/>
          <p:cNvSpPr/>
          <p:nvPr/>
        </p:nvSpPr>
        <p:spPr>
          <a:xfrm>
            <a:off x="4764023" y="2377438"/>
            <a:ext cx="1965963" cy="27432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" name="Text 15"/>
          <p:cNvSpPr txBox="1"/>
          <p:nvPr/>
        </p:nvSpPr>
        <p:spPr>
          <a:xfrm>
            <a:off x="4764023" y="2451099"/>
            <a:ext cx="196596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Task 3</a:t>
            </a:r>
          </a:p>
        </p:txBody>
      </p:sp>
      <p:sp>
        <p:nvSpPr>
          <p:cNvPr id="36" name="Text 16"/>
          <p:cNvSpPr txBox="1"/>
          <p:nvPr/>
        </p:nvSpPr>
        <p:spPr>
          <a:xfrm>
            <a:off x="4809742" y="2912154"/>
            <a:ext cx="1874524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000">
                <a:solidFill>
                  <a:srgbClr val="B8D4E8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Embedding Space</a:t>
            </a:r>
          </a:p>
          <a:p>
            <a:pPr algn="ctr">
              <a:defRPr sz="1000">
                <a:solidFill>
                  <a:srgbClr val="B8D4E8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Interpretation</a:t>
            </a:r>
          </a:p>
        </p:txBody>
      </p:sp>
      <p:sp>
        <p:nvSpPr>
          <p:cNvPr id="37" name="Shape 17"/>
          <p:cNvSpPr/>
          <p:nvPr/>
        </p:nvSpPr>
        <p:spPr>
          <a:xfrm>
            <a:off x="6940294" y="2377438"/>
            <a:ext cx="1965963" cy="1097282"/>
          </a:xfrm>
          <a:prstGeom prst="rect">
            <a:avLst/>
          </a:prstGeom>
          <a:solidFill>
            <a:srgbClr val="0E3A5C"/>
          </a:solidFill>
          <a:ln w="12700">
            <a:solidFill>
              <a:srgbClr val="0E7C7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8" name="Shape 18"/>
          <p:cNvSpPr/>
          <p:nvPr/>
        </p:nvSpPr>
        <p:spPr>
          <a:xfrm>
            <a:off x="6940294" y="2377438"/>
            <a:ext cx="1965963" cy="27432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9" name="Text 19"/>
          <p:cNvSpPr txBox="1"/>
          <p:nvPr/>
        </p:nvSpPr>
        <p:spPr>
          <a:xfrm>
            <a:off x="6940294" y="2451099"/>
            <a:ext cx="196596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Task 4</a:t>
            </a:r>
          </a:p>
        </p:txBody>
      </p:sp>
      <p:sp>
        <p:nvSpPr>
          <p:cNvPr id="40" name="Text 20"/>
          <p:cNvSpPr txBox="1"/>
          <p:nvPr/>
        </p:nvSpPr>
        <p:spPr>
          <a:xfrm>
            <a:off x="6986016" y="2912154"/>
            <a:ext cx="1874523" cy="302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1000">
                <a:solidFill>
                  <a:srgbClr val="B8D4E8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Drug Target</a:t>
            </a:r>
          </a:p>
          <a:p>
            <a:pPr algn="ctr">
              <a:defRPr sz="1000">
                <a:solidFill>
                  <a:srgbClr val="B8D4E8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Prioritisation</a:t>
            </a:r>
          </a:p>
        </p:txBody>
      </p:sp>
      <p:sp>
        <p:nvSpPr>
          <p:cNvPr id="41" name="Text 21"/>
          <p:cNvSpPr txBox="1"/>
          <p:nvPr/>
        </p:nvSpPr>
        <p:spPr>
          <a:xfrm>
            <a:off x="411479" y="3657644"/>
            <a:ext cx="841248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000">
                <a:solidFill>
                  <a:srgbClr val="E9C46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Model: </a:t>
            </a:r>
            <a:r>
              <a:rPr b="0">
                <a:solidFill>
                  <a:srgbClr val="B8D4E8"/>
                </a:solidFill>
              </a:rPr>
              <a:t>GeneFormer V2 (gf-12L-95M-i4096)   </a:t>
            </a:r>
            <a:r>
              <a:t>Dataset: </a:t>
            </a:r>
            <a:r>
              <a:rPr b="0">
                <a:solidFill>
                  <a:srgbClr val="B8D4E8"/>
                </a:solidFill>
              </a:rPr>
              <a:t>Pineda et al. 2024 · BA4 sALS motor cortex · 10-gene panel across 5 ALS pathways</a:t>
            </a:r>
          </a:p>
        </p:txBody>
      </p:sp>
      <p:sp>
        <p:nvSpPr>
          <p:cNvPr id="42" name="Text 22"/>
          <p:cNvSpPr txBox="1"/>
          <p:nvPr/>
        </p:nvSpPr>
        <p:spPr>
          <a:xfrm>
            <a:off x="411479" y="4645658"/>
            <a:ext cx="84124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7A9BB0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Monika Sekelja  ·  Helical Coding Challenge  · 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-1"/>
            <a:ext cx="9144000" cy="65837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" name="Shape 1"/>
          <p:cNvSpPr/>
          <p:nvPr/>
        </p:nvSpPr>
        <p:spPr>
          <a:xfrm>
            <a:off x="-1" y="-1"/>
            <a:ext cx="1234442" cy="65837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" name="Text 2"/>
          <p:cNvSpPr txBox="1"/>
          <p:nvPr/>
        </p:nvSpPr>
        <p:spPr>
          <a:xfrm>
            <a:off x="-1" y="260647"/>
            <a:ext cx="1234442" cy="13707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" name="Text 3"/>
          <p:cNvSpPr txBox="1"/>
          <p:nvPr/>
        </p:nvSpPr>
        <p:spPr>
          <a:xfrm>
            <a:off x="1325880" y="208360"/>
            <a:ext cx="7680960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SUMMARY</a:t>
            </a:r>
          </a:p>
        </p:txBody>
      </p:sp>
      <p:sp>
        <p:nvSpPr>
          <p:cNvPr id="48" name="Shape 4"/>
          <p:cNvSpPr/>
          <p:nvPr/>
        </p:nvSpPr>
        <p:spPr>
          <a:xfrm>
            <a:off x="274318" y="804672"/>
            <a:ext cx="8595364" cy="256033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" name="Text 5"/>
          <p:cNvSpPr txBox="1"/>
          <p:nvPr/>
        </p:nvSpPr>
        <p:spPr>
          <a:xfrm>
            <a:off x="365758" y="854256"/>
            <a:ext cx="4023363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KEY TAKE AWAYS</a:t>
            </a:r>
          </a:p>
        </p:txBody>
      </p:sp>
      <p:sp>
        <p:nvSpPr>
          <p:cNvPr id="50" name="Shape 6"/>
          <p:cNvSpPr/>
          <p:nvPr/>
        </p:nvSpPr>
        <p:spPr>
          <a:xfrm>
            <a:off x="274318" y="1060702"/>
            <a:ext cx="8595364" cy="2600825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" name="Text 7"/>
          <p:cNvSpPr txBox="1"/>
          <p:nvPr/>
        </p:nvSpPr>
        <p:spPr>
          <a:xfrm>
            <a:off x="365758" y="1078991"/>
            <a:ext cx="8045080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457200">
              <a:defRPr sz="1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Pretrained GeneFormer V2 places sALS and healthy motor neurons at cosine distance </a:t>
            </a:r>
            <a:r>
              <a:rPr b="1"/>
              <a:t>0.003–0.006 </a:t>
            </a:r>
            <a:r>
              <a:t>insufficient for per-gene target resolution (0/44 FDR-significant). </a:t>
            </a:r>
          </a:p>
          <a:p>
            <a:pPr defTabSz="457200">
              <a:defRPr sz="13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defRPr sz="1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Despite this: </a:t>
            </a:r>
            <a:r>
              <a:rPr b="1"/>
              <a:t>STMN2 restoration</a:t>
            </a:r>
            <a:r>
              <a:t> is the top rescue signal across all scoring metrics (composite 0.93, bidirectional ✓, dose-response R²=0.99). </a:t>
            </a:r>
          </a:p>
          <a:p>
            <a:pPr defTabSz="457200">
              <a:defRPr sz="13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defRPr sz="1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 four-gene druggable combination (STMN2 + UNC13A + DCTN1 + DYNC1H1 restore) achieves the only significant synergy</a:t>
            </a:r>
          </a:p>
          <a:p>
            <a:pPr defTabSz="457200">
              <a:defRPr sz="13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defRPr sz="1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ACTB negative control validates framework specificity. </a:t>
            </a:r>
          </a:p>
          <a:p>
            <a:pPr defTabSz="457200">
              <a:defRPr sz="13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defRPr sz="1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Fine-tuning is the critical unlock (c</a:t>
            </a:r>
            <a:r>
              <a:t>ompute &amp; time constraints were the bottleneck)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/>
          <p:cNvSpPr/>
          <p:nvPr/>
        </p:nvSpPr>
        <p:spPr>
          <a:xfrm>
            <a:off x="0" y="-1"/>
            <a:ext cx="9144000" cy="65837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" name="Shape 1"/>
          <p:cNvSpPr/>
          <p:nvPr/>
        </p:nvSpPr>
        <p:spPr>
          <a:xfrm>
            <a:off x="-1" y="-1"/>
            <a:ext cx="1234442" cy="65837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" name="Text 2"/>
          <p:cNvSpPr txBox="1"/>
          <p:nvPr/>
        </p:nvSpPr>
        <p:spPr>
          <a:xfrm>
            <a:off x="-1" y="260647"/>
            <a:ext cx="123444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TASK 1</a:t>
            </a:r>
          </a:p>
        </p:txBody>
      </p:sp>
      <p:sp>
        <p:nvSpPr>
          <p:cNvPr id="56" name="Text 3"/>
          <p:cNvSpPr txBox="1"/>
          <p:nvPr/>
        </p:nvSpPr>
        <p:spPr>
          <a:xfrm>
            <a:off x="1325880" y="208360"/>
            <a:ext cx="7680960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InSilico Perturbation Workflow</a:t>
            </a:r>
          </a:p>
        </p:txBody>
      </p:sp>
      <p:sp>
        <p:nvSpPr>
          <p:cNvPr id="57" name="Shape 4"/>
          <p:cNvSpPr/>
          <p:nvPr/>
        </p:nvSpPr>
        <p:spPr>
          <a:xfrm>
            <a:off x="274318" y="804672"/>
            <a:ext cx="4114805" cy="256033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8" name="Text 5"/>
          <p:cNvSpPr txBox="1"/>
          <p:nvPr/>
        </p:nvSpPr>
        <p:spPr>
          <a:xfrm>
            <a:off x="365758" y="869188"/>
            <a:ext cx="402336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OBJECTIVE</a:t>
            </a:r>
          </a:p>
        </p:txBody>
      </p:sp>
      <p:sp>
        <p:nvSpPr>
          <p:cNvPr id="59" name="Shape 6"/>
          <p:cNvSpPr/>
          <p:nvPr/>
        </p:nvSpPr>
        <p:spPr>
          <a:xfrm>
            <a:off x="274318" y="1060702"/>
            <a:ext cx="4114805" cy="77724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0" name="Text 7"/>
          <p:cNvSpPr txBox="1"/>
          <p:nvPr/>
        </p:nvSpPr>
        <p:spPr>
          <a:xfrm>
            <a:off x="365758" y="1078991"/>
            <a:ext cx="3931924" cy="467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1A2B3C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Design a scalable framework to simulate gene knock-down and knock-up events in single-cell data, leveraging GeneFormer V2's rank-value encoding to measure perturbation effects in a biologically informed latent space.</a:t>
            </a:r>
          </a:p>
        </p:txBody>
      </p:sp>
      <p:sp>
        <p:nvSpPr>
          <p:cNvPr id="61" name="Shape 8"/>
          <p:cNvSpPr/>
          <p:nvPr/>
        </p:nvSpPr>
        <p:spPr>
          <a:xfrm>
            <a:off x="274318" y="1947672"/>
            <a:ext cx="4114805" cy="256033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2" name="Text 9"/>
          <p:cNvSpPr txBox="1"/>
          <p:nvPr/>
        </p:nvSpPr>
        <p:spPr>
          <a:xfrm>
            <a:off x="365758" y="2012188"/>
            <a:ext cx="402336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InSilicoPerturbation CLASS — CORE METHODS</a:t>
            </a:r>
          </a:p>
        </p:txBody>
      </p:sp>
      <p:sp>
        <p:nvSpPr>
          <p:cNvPr id="63" name="Shape 10"/>
          <p:cNvSpPr/>
          <p:nvPr/>
        </p:nvSpPr>
        <p:spPr>
          <a:xfrm>
            <a:off x="274318" y="2221992"/>
            <a:ext cx="4114805" cy="512066"/>
          </a:xfrm>
          <a:prstGeom prst="rect">
            <a:avLst/>
          </a:prstGeom>
          <a:solidFill>
            <a:srgbClr val="EEF4F8"/>
          </a:solidFill>
          <a:ln w="6350">
            <a:solidFill>
              <a:srgbClr val="D0DDE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4" name="Shape 11"/>
          <p:cNvSpPr/>
          <p:nvPr/>
        </p:nvSpPr>
        <p:spPr>
          <a:xfrm>
            <a:off x="338326" y="2340864"/>
            <a:ext cx="256033" cy="256033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5" name="Text 12"/>
          <p:cNvSpPr txBox="1"/>
          <p:nvPr/>
        </p:nvSpPr>
        <p:spPr>
          <a:xfrm>
            <a:off x="338326" y="2405379"/>
            <a:ext cx="25603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①</a:t>
            </a:r>
          </a:p>
        </p:txBody>
      </p:sp>
      <p:sp>
        <p:nvSpPr>
          <p:cNvPr id="66" name="Text 13"/>
          <p:cNvSpPr txBox="1"/>
          <p:nvPr/>
        </p:nvSpPr>
        <p:spPr>
          <a:xfrm>
            <a:off x="658366" y="2290614"/>
            <a:ext cx="3657605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A23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perturb()</a:t>
            </a:r>
          </a:p>
        </p:txBody>
      </p:sp>
      <p:sp>
        <p:nvSpPr>
          <p:cNvPr id="67" name="Text 14"/>
          <p:cNvSpPr txBox="1"/>
          <p:nvPr/>
        </p:nvSpPr>
        <p:spPr>
          <a:xfrm>
            <a:off x="658366" y="2459733"/>
            <a:ext cx="3657605" cy="231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4A6070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Modify expression counts to simulate knock-down (→0) or knock-up (→healthy max) for target genes</a:t>
            </a:r>
          </a:p>
        </p:txBody>
      </p:sp>
      <p:sp>
        <p:nvSpPr>
          <p:cNvPr id="68" name="Shape 15"/>
          <p:cNvSpPr/>
          <p:nvPr/>
        </p:nvSpPr>
        <p:spPr>
          <a:xfrm>
            <a:off x="274318" y="2761488"/>
            <a:ext cx="4114805" cy="512066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9" name="Shape 16"/>
          <p:cNvSpPr/>
          <p:nvPr/>
        </p:nvSpPr>
        <p:spPr>
          <a:xfrm>
            <a:off x="338326" y="2880360"/>
            <a:ext cx="256033" cy="256033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0" name="Text 17"/>
          <p:cNvSpPr txBox="1"/>
          <p:nvPr/>
        </p:nvSpPr>
        <p:spPr>
          <a:xfrm>
            <a:off x="338326" y="2944876"/>
            <a:ext cx="25603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②</a:t>
            </a:r>
          </a:p>
        </p:txBody>
      </p:sp>
      <p:sp>
        <p:nvSpPr>
          <p:cNvPr id="71" name="Text 18"/>
          <p:cNvSpPr txBox="1"/>
          <p:nvPr/>
        </p:nvSpPr>
        <p:spPr>
          <a:xfrm>
            <a:off x="658366" y="2830110"/>
            <a:ext cx="3657605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A23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embed()</a:t>
            </a:r>
          </a:p>
        </p:txBody>
      </p:sp>
      <p:sp>
        <p:nvSpPr>
          <p:cNvPr id="72" name="Text 19"/>
          <p:cNvSpPr txBox="1"/>
          <p:nvPr/>
        </p:nvSpPr>
        <p:spPr>
          <a:xfrm>
            <a:off x="658366" y="2999232"/>
            <a:ext cx="365760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4A6070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Generate GeneFormer V2 embeddings for paired unperturbed &amp; perturbed cells</a:t>
            </a:r>
          </a:p>
        </p:txBody>
      </p:sp>
      <p:sp>
        <p:nvSpPr>
          <p:cNvPr id="73" name="Shape 20"/>
          <p:cNvSpPr/>
          <p:nvPr/>
        </p:nvSpPr>
        <p:spPr>
          <a:xfrm>
            <a:off x="274318" y="3300984"/>
            <a:ext cx="4114805" cy="512066"/>
          </a:xfrm>
          <a:prstGeom prst="rect">
            <a:avLst/>
          </a:prstGeom>
          <a:solidFill>
            <a:srgbClr val="EEF4F8"/>
          </a:solidFill>
          <a:ln w="6350">
            <a:solidFill>
              <a:srgbClr val="D0DDE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4" name="Shape 21"/>
          <p:cNvSpPr/>
          <p:nvPr/>
        </p:nvSpPr>
        <p:spPr>
          <a:xfrm>
            <a:off x="338326" y="3419854"/>
            <a:ext cx="256033" cy="256033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5" name="Text 22"/>
          <p:cNvSpPr txBox="1"/>
          <p:nvPr/>
        </p:nvSpPr>
        <p:spPr>
          <a:xfrm>
            <a:off x="338326" y="3484370"/>
            <a:ext cx="25603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③</a:t>
            </a:r>
          </a:p>
        </p:txBody>
      </p:sp>
      <p:sp>
        <p:nvSpPr>
          <p:cNvPr id="76" name="Text 23"/>
          <p:cNvSpPr txBox="1"/>
          <p:nvPr/>
        </p:nvSpPr>
        <p:spPr>
          <a:xfrm>
            <a:off x="658366" y="3369607"/>
            <a:ext cx="3657605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A23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cosine_shift()</a:t>
            </a:r>
          </a:p>
        </p:txBody>
      </p:sp>
      <p:sp>
        <p:nvSpPr>
          <p:cNvPr id="77" name="Text 24"/>
          <p:cNvSpPr txBox="1"/>
          <p:nvPr/>
        </p:nvSpPr>
        <p:spPr>
          <a:xfrm>
            <a:off x="658366" y="3538728"/>
            <a:ext cx="365760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4A6070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Measure directional displacement toward the healthy population centroid</a:t>
            </a:r>
          </a:p>
        </p:txBody>
      </p:sp>
      <p:sp>
        <p:nvSpPr>
          <p:cNvPr id="78" name="Shape 25"/>
          <p:cNvSpPr/>
          <p:nvPr/>
        </p:nvSpPr>
        <p:spPr>
          <a:xfrm>
            <a:off x="274318" y="3840479"/>
            <a:ext cx="4114805" cy="512066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9" name="Shape 26"/>
          <p:cNvSpPr/>
          <p:nvPr/>
        </p:nvSpPr>
        <p:spPr>
          <a:xfrm>
            <a:off x="338326" y="3959352"/>
            <a:ext cx="256033" cy="256033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0" name="Text 27"/>
          <p:cNvSpPr txBox="1"/>
          <p:nvPr/>
        </p:nvSpPr>
        <p:spPr>
          <a:xfrm>
            <a:off x="338326" y="4023867"/>
            <a:ext cx="25603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④</a:t>
            </a:r>
          </a:p>
        </p:txBody>
      </p:sp>
      <p:sp>
        <p:nvSpPr>
          <p:cNvPr id="81" name="Text 28"/>
          <p:cNvSpPr txBox="1"/>
          <p:nvPr/>
        </p:nvSpPr>
        <p:spPr>
          <a:xfrm>
            <a:off x="658366" y="3909103"/>
            <a:ext cx="3657605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A23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dose_response()</a:t>
            </a:r>
          </a:p>
        </p:txBody>
      </p:sp>
      <p:sp>
        <p:nvSpPr>
          <p:cNvPr id="82" name="Text 29"/>
          <p:cNvSpPr txBox="1"/>
          <p:nvPr/>
        </p:nvSpPr>
        <p:spPr>
          <a:xfrm>
            <a:off x="658366" y="4078223"/>
            <a:ext cx="365760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4A6070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Graded perturbation by fraction (e.g.  0%, 25 %, etc)  to characterise response curves</a:t>
            </a:r>
          </a:p>
        </p:txBody>
      </p:sp>
      <p:sp>
        <p:nvSpPr>
          <p:cNvPr id="83" name="Shape 30"/>
          <p:cNvSpPr/>
          <p:nvPr/>
        </p:nvSpPr>
        <p:spPr>
          <a:xfrm>
            <a:off x="274318" y="4379976"/>
            <a:ext cx="4114805" cy="512066"/>
          </a:xfrm>
          <a:prstGeom prst="rect">
            <a:avLst/>
          </a:prstGeom>
          <a:solidFill>
            <a:srgbClr val="EEF4F8"/>
          </a:solidFill>
          <a:ln w="6350">
            <a:solidFill>
              <a:srgbClr val="D0DDE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4" name="Shape 31"/>
          <p:cNvSpPr/>
          <p:nvPr/>
        </p:nvSpPr>
        <p:spPr>
          <a:xfrm>
            <a:off x="338326" y="4498847"/>
            <a:ext cx="256033" cy="256033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5" name="Text 32"/>
          <p:cNvSpPr txBox="1"/>
          <p:nvPr/>
        </p:nvSpPr>
        <p:spPr>
          <a:xfrm>
            <a:off x="338326" y="4563362"/>
            <a:ext cx="25603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⑤</a:t>
            </a:r>
          </a:p>
        </p:txBody>
      </p:sp>
      <p:sp>
        <p:nvSpPr>
          <p:cNvPr id="86" name="Text 33"/>
          <p:cNvSpPr txBox="1"/>
          <p:nvPr/>
        </p:nvSpPr>
        <p:spPr>
          <a:xfrm>
            <a:off x="658366" y="4448600"/>
            <a:ext cx="3657605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0A23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null_distribution()</a:t>
            </a:r>
          </a:p>
        </p:txBody>
      </p:sp>
      <p:sp>
        <p:nvSpPr>
          <p:cNvPr id="87" name="Text 34"/>
          <p:cNvSpPr txBox="1"/>
          <p:nvPr/>
        </p:nvSpPr>
        <p:spPr>
          <a:xfrm>
            <a:off x="658366" y="4617720"/>
            <a:ext cx="365760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4A6070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FDR-corrected significance against 20 random-gene perturbations</a:t>
            </a:r>
          </a:p>
        </p:txBody>
      </p:sp>
      <p:sp>
        <p:nvSpPr>
          <p:cNvPr id="88" name="Shape 35"/>
          <p:cNvSpPr/>
          <p:nvPr/>
        </p:nvSpPr>
        <p:spPr>
          <a:xfrm>
            <a:off x="4663440" y="804670"/>
            <a:ext cx="4206243" cy="4114805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</a:ln>
          <a:effectLst>
            <a:outerShdw sx="100000" sy="100000" kx="0" ky="0" algn="b" rotWithShape="0" blurRad="508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pic>
        <p:nvPicPr>
          <p:cNvPr id="8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09159" y="877824"/>
            <a:ext cx="4114803" cy="38862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0"/>
          <p:cNvSpPr/>
          <p:nvPr/>
        </p:nvSpPr>
        <p:spPr>
          <a:xfrm>
            <a:off x="0" y="-1"/>
            <a:ext cx="9144000" cy="65837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2" name="Shape 1"/>
          <p:cNvSpPr/>
          <p:nvPr/>
        </p:nvSpPr>
        <p:spPr>
          <a:xfrm>
            <a:off x="-1" y="-1"/>
            <a:ext cx="1234442" cy="65837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3" name="Text 2"/>
          <p:cNvSpPr txBox="1"/>
          <p:nvPr/>
        </p:nvSpPr>
        <p:spPr>
          <a:xfrm>
            <a:off x="-1" y="260647"/>
            <a:ext cx="123444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TASK 2</a:t>
            </a:r>
          </a:p>
        </p:txBody>
      </p:sp>
      <p:sp>
        <p:nvSpPr>
          <p:cNvPr id="94" name="Text 3"/>
          <p:cNvSpPr txBox="1"/>
          <p:nvPr/>
        </p:nvSpPr>
        <p:spPr>
          <a:xfrm>
            <a:off x="1325880" y="208360"/>
            <a:ext cx="7680960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ALS-Specific Gene Perturbations via GeneFormer V2</a:t>
            </a:r>
          </a:p>
        </p:txBody>
      </p:sp>
      <p:sp>
        <p:nvSpPr>
          <p:cNvPr id="95" name="Shape 4"/>
          <p:cNvSpPr/>
          <p:nvPr/>
        </p:nvSpPr>
        <p:spPr>
          <a:xfrm>
            <a:off x="274318" y="804672"/>
            <a:ext cx="4114805" cy="27432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6" name="Text 5"/>
          <p:cNvSpPr txBox="1"/>
          <p:nvPr/>
        </p:nvSpPr>
        <p:spPr>
          <a:xfrm>
            <a:off x="365758" y="878332"/>
            <a:ext cx="402336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10-GENE PANEL · 4 POPULATIONS (VAT1L + SCN4B × sALS + PN)</a:t>
            </a:r>
          </a:p>
        </p:txBody>
      </p:sp>
      <p:sp>
        <p:nvSpPr>
          <p:cNvPr id="97" name="Shape 6"/>
          <p:cNvSpPr/>
          <p:nvPr/>
        </p:nvSpPr>
        <p:spPr>
          <a:xfrm>
            <a:off x="274320" y="1097280"/>
            <a:ext cx="109731" cy="640083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8" name="Shape 7"/>
          <p:cNvSpPr/>
          <p:nvPr/>
        </p:nvSpPr>
        <p:spPr>
          <a:xfrm>
            <a:off x="384047" y="1097280"/>
            <a:ext cx="4005073" cy="640083"/>
          </a:xfrm>
          <a:prstGeom prst="rect">
            <a:avLst/>
          </a:prstGeom>
          <a:solidFill>
            <a:srgbClr val="EEF4F8"/>
          </a:solidFill>
          <a:ln w="6350">
            <a:solidFill>
              <a:srgbClr val="D0DDE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9" name="Text Card 1"/>
          <p:cNvSpPr txBox="1"/>
          <p:nvPr/>
        </p:nvSpPr>
        <p:spPr>
          <a:xfrm>
            <a:off x="521206" y="1189721"/>
            <a:ext cx="3730196" cy="577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800">
                <a:solidFill>
                  <a:srgbClr val="0A2342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Pretrained model limitation: </a:t>
            </a:r>
            <a:r>
              <a:rPr b="0"/>
              <a:t>GeneFormer V2 places sALS and healthy motor neurons at cosine distance 0.003–0.006. All perturbation shifts are bounded to ~10⁻⁴. Fine-tuning on VAT1L+ &amp; SCN4B+ cells would amplify but exceeded GPU memory on g5.xlarge.</a:t>
            </a:r>
            <a:br>
              <a:rPr b="0"/>
            </a:br>
          </a:p>
        </p:txBody>
      </p:sp>
      <p:sp>
        <p:nvSpPr>
          <p:cNvPr id="100" name="Shape 11"/>
          <p:cNvSpPr/>
          <p:nvPr/>
        </p:nvSpPr>
        <p:spPr>
          <a:xfrm>
            <a:off x="274320" y="1777492"/>
            <a:ext cx="109731" cy="640083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1" name="Shape 12"/>
          <p:cNvSpPr/>
          <p:nvPr/>
        </p:nvSpPr>
        <p:spPr>
          <a:xfrm>
            <a:off x="384047" y="1777492"/>
            <a:ext cx="4005073" cy="640083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2" name="Text Card 2"/>
          <p:cNvSpPr txBox="1"/>
          <p:nvPr/>
        </p:nvSpPr>
        <p:spPr>
          <a:xfrm>
            <a:off x="521206" y="1819132"/>
            <a:ext cx="3730196" cy="577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800">
                <a:solidFill>
                  <a:srgbClr val="0A2342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Top single-gene signal: </a:t>
            </a:r>
            <a:r>
              <a:rPr b="0"/>
              <a:t>STMN2 restore - largest positive shift in disease cells. Bidirectional: healthy cells shift in opposing direction. Dose-response monotonic</a:t>
            </a:r>
            <a:endParaRPr b="0"/>
          </a:p>
          <a:p>
            <a:pPr>
              <a:defRPr b="1" sz="800">
                <a:solidFill>
                  <a:srgbClr val="0A2342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Second signal: </a:t>
            </a:r>
            <a:r>
              <a:rPr b="0"/>
              <a:t>SARM1 KD - most reproducible non-TDP-43 rescue signal (d = 0.16). Bidirectionally consistent across VAT1L populations.</a:t>
            </a:r>
          </a:p>
        </p:txBody>
      </p:sp>
      <p:sp>
        <p:nvSpPr>
          <p:cNvPr id="103" name="Shape 16"/>
          <p:cNvSpPr/>
          <p:nvPr/>
        </p:nvSpPr>
        <p:spPr>
          <a:xfrm>
            <a:off x="274320" y="2445004"/>
            <a:ext cx="109731" cy="640083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4" name="Shape 17"/>
          <p:cNvSpPr/>
          <p:nvPr/>
        </p:nvSpPr>
        <p:spPr>
          <a:xfrm>
            <a:off x="384047" y="2445004"/>
            <a:ext cx="4005073" cy="640083"/>
          </a:xfrm>
          <a:prstGeom prst="rect">
            <a:avLst/>
          </a:prstGeom>
          <a:solidFill>
            <a:srgbClr val="EEF4F8"/>
          </a:solidFill>
          <a:ln w="6350">
            <a:solidFill>
              <a:srgbClr val="D0DDE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5" name="Text Card 3"/>
          <p:cNvSpPr txBox="1"/>
          <p:nvPr/>
        </p:nvSpPr>
        <p:spPr>
          <a:xfrm>
            <a:off x="521206" y="2486643"/>
            <a:ext cx="3730196" cy="5770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800">
                <a:solidFill>
                  <a:srgbClr val="0A2342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Mechanism validators:</a:t>
            </a:r>
            <a:r>
              <a:rPr b="0"/>
              <a:t> </a:t>
            </a:r>
            <a:endParaRPr b="0"/>
          </a:p>
          <a:p>
            <a:pPr defTabSz="457200"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800">
                <a:solidFill>
                  <a:srgbClr val="0A2342"/>
                </a:solidFill>
                <a:latin typeface="+mj-lt"/>
                <a:ea typeface="+mj-ea"/>
                <a:cs typeface="+mj-cs"/>
                <a:sym typeface="Calibri"/>
              </a:rPr>
              <a:t>TARDBP KD ≈ zero shift (TDP-43 is ubiquitously expressed → low rank → invisible to the model). Pathway biology detected through downstream targets (STMN2), not the hub gene.</a:t>
            </a:r>
          </a:p>
        </p:txBody>
      </p:sp>
      <p:sp>
        <p:nvSpPr>
          <p:cNvPr id="106" name="Shape 21"/>
          <p:cNvSpPr/>
          <p:nvPr/>
        </p:nvSpPr>
        <p:spPr>
          <a:xfrm>
            <a:off x="274320" y="3137916"/>
            <a:ext cx="109731" cy="640083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7" name="Shape 22"/>
          <p:cNvSpPr/>
          <p:nvPr/>
        </p:nvSpPr>
        <p:spPr>
          <a:xfrm>
            <a:off x="384047" y="3137916"/>
            <a:ext cx="4005073" cy="640083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8" name="Text Card 4"/>
          <p:cNvSpPr txBox="1"/>
          <p:nvPr/>
        </p:nvSpPr>
        <p:spPr>
          <a:xfrm>
            <a:off x="521206" y="3192255"/>
            <a:ext cx="3730196" cy="5417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800">
                <a:solidFill>
                  <a:srgbClr val="0A2342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Only significant combination</a:t>
            </a:r>
          </a:p>
          <a:p>
            <a:pPr>
              <a:defRPr sz="700">
                <a:solidFill>
                  <a:srgbClr val="3A4F5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TDP43_full_axis (TARDBP KD + STMN2 + UNC13A restore), p = 0.012. Shift = +1.24 × 10⁻⁴, which is 2.6× the sum of individual shifts. The three genes cooperate within the TDP-43 axis — TARDBP and UNC13A contribute nothing alone but amplify the signal in combination.</a:t>
            </a:r>
          </a:p>
        </p:txBody>
      </p:sp>
      <p:sp>
        <p:nvSpPr>
          <p:cNvPr id="109" name="Shape 26"/>
          <p:cNvSpPr/>
          <p:nvPr/>
        </p:nvSpPr>
        <p:spPr>
          <a:xfrm>
            <a:off x="274320" y="3843528"/>
            <a:ext cx="109731" cy="4599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0" name="Shape 27"/>
          <p:cNvSpPr/>
          <p:nvPr/>
        </p:nvSpPr>
        <p:spPr>
          <a:xfrm>
            <a:off x="384047" y="3843528"/>
            <a:ext cx="4005073" cy="459900"/>
          </a:xfrm>
          <a:prstGeom prst="rect">
            <a:avLst/>
          </a:prstGeom>
          <a:solidFill>
            <a:srgbClr val="EEF4F8"/>
          </a:solidFill>
          <a:ln w="6350">
            <a:solidFill>
              <a:srgbClr val="D0DDE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1" name="Text Card 5"/>
          <p:cNvSpPr txBox="1"/>
          <p:nvPr/>
        </p:nvSpPr>
        <p:spPr>
          <a:xfrm>
            <a:off x="521206" y="3859768"/>
            <a:ext cx="3730196" cy="427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800">
                <a:solidFill>
                  <a:srgbClr val="0A2342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ACTB control validates framework</a:t>
            </a:r>
          </a:p>
          <a:p>
            <a:pPr>
              <a:defRPr sz="700">
                <a:solidFill>
                  <a:srgbClr val="3A4F5F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near-zero shift in disease cells despite being the most differentially expressed gene in the panel (log2FC = −1.04).</a:t>
            </a:r>
          </a:p>
        </p:txBody>
      </p:sp>
      <p:pic>
        <p:nvPicPr>
          <p:cNvPr id="112" name="task2_summary.png" descr="task2_summary.png"/>
          <p:cNvPicPr>
            <a:picLocks noChangeAspect="1"/>
          </p:cNvPicPr>
          <p:nvPr/>
        </p:nvPicPr>
        <p:blipFill>
          <a:blip r:embed="rId2">
            <a:extLst/>
          </a:blip>
          <a:srcRect l="537" t="0" r="0" b="0"/>
          <a:stretch>
            <a:fillRect/>
          </a:stretch>
        </p:blipFill>
        <p:spPr>
          <a:xfrm>
            <a:off x="4663440" y="832953"/>
            <a:ext cx="4095515" cy="3025739"/>
          </a:xfrm>
          <a:prstGeom prst="rect">
            <a:avLst/>
          </a:prstGeom>
          <a:ln w="12700">
            <a:solidFill>
              <a:srgbClr val="D0DDE8"/>
            </a:solidFill>
          </a:ln>
          <a:effectLst>
            <a:outerShdw sx="100000" sy="100000" kx="0" ky="0" algn="b" rotWithShape="0" blurRad="50800" dist="25400" dir="8100000">
              <a:srgbClr val="000000">
                <a:alpha val="10000"/>
              </a:srgbClr>
            </a:outerShdw>
          </a:effectLst>
        </p:spPr>
      </p:pic>
      <p:sp>
        <p:nvSpPr>
          <p:cNvPr id="113" name="Shape 26"/>
          <p:cNvSpPr/>
          <p:nvPr/>
        </p:nvSpPr>
        <p:spPr>
          <a:xfrm>
            <a:off x="275908" y="4356053"/>
            <a:ext cx="109731" cy="316666"/>
          </a:xfrm>
          <a:prstGeom prst="rect">
            <a:avLst/>
          </a:prstGeom>
          <a:solidFill>
            <a:srgbClr val="14A51B"/>
          </a:solidFill>
          <a:ln w="12700">
            <a:solidFill>
              <a:schemeClr val="accent6">
                <a:lumOff val="-9568"/>
              </a:schemeClr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4" name="Shape 27"/>
          <p:cNvSpPr/>
          <p:nvPr/>
        </p:nvSpPr>
        <p:spPr>
          <a:xfrm>
            <a:off x="385635" y="4356053"/>
            <a:ext cx="4005073" cy="316666"/>
          </a:xfrm>
          <a:prstGeom prst="rect">
            <a:avLst/>
          </a:prstGeom>
          <a:solidFill>
            <a:srgbClr val="EEF4F8"/>
          </a:solidFill>
          <a:ln w="6350">
            <a:solidFill>
              <a:srgbClr val="D0DDE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5" name="Text Card 5"/>
          <p:cNvSpPr txBox="1"/>
          <p:nvPr/>
        </p:nvSpPr>
        <p:spPr>
          <a:xfrm>
            <a:off x="522795" y="4372294"/>
            <a:ext cx="3730195" cy="323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800">
                <a:solidFill>
                  <a:srgbClr val="0A23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0/44 individual perturbations FDR &lt; 0.05: fine-tuning is required for per-gene significance.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26"/>
          <p:cNvSpPr/>
          <p:nvPr/>
        </p:nvSpPr>
        <p:spPr>
          <a:xfrm>
            <a:off x="4636770" y="4450125"/>
            <a:ext cx="4013204" cy="583321"/>
          </a:xfrm>
          <a:prstGeom prst="rect">
            <a:avLst/>
          </a:prstGeom>
          <a:gradFill>
            <a:gsLst>
              <a:gs pos="0">
                <a:schemeClr val="accent4">
                  <a:hueOff val="-617933"/>
                  <a:lumOff val="36487"/>
                </a:schemeClr>
              </a:gs>
              <a:gs pos="35000">
                <a:srgbClr val="FFEACF"/>
              </a:gs>
              <a:gs pos="100000">
                <a:schemeClr val="accent4">
                  <a:hueOff val="-742744"/>
                  <a:lumOff val="46439"/>
                </a:schemeClr>
              </a:gs>
            </a:gsLst>
            <a:lin ang="16200000"/>
          </a:gradFill>
          <a:ln>
            <a:solidFill>
              <a:srgbClr val="F9BC00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" name="Shape 26"/>
          <p:cNvSpPr/>
          <p:nvPr/>
        </p:nvSpPr>
        <p:spPr>
          <a:xfrm>
            <a:off x="274318" y="2817595"/>
            <a:ext cx="4114805" cy="687611"/>
          </a:xfrm>
          <a:prstGeom prst="rect">
            <a:avLst/>
          </a:prstGeom>
          <a:solidFill>
            <a:srgbClr val="EEF4F8"/>
          </a:solidFill>
          <a:ln w="6350">
            <a:solidFill>
              <a:srgbClr val="D0DDE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9" name="Shape 0"/>
          <p:cNvSpPr/>
          <p:nvPr/>
        </p:nvSpPr>
        <p:spPr>
          <a:xfrm>
            <a:off x="0" y="-1"/>
            <a:ext cx="9144000" cy="65837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0" name="Shape 1"/>
          <p:cNvSpPr/>
          <p:nvPr/>
        </p:nvSpPr>
        <p:spPr>
          <a:xfrm>
            <a:off x="-1" y="-1"/>
            <a:ext cx="1234442" cy="65837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1" name="Text 2"/>
          <p:cNvSpPr txBox="1"/>
          <p:nvPr/>
        </p:nvSpPr>
        <p:spPr>
          <a:xfrm>
            <a:off x="-1" y="260647"/>
            <a:ext cx="123444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TASK 3</a:t>
            </a:r>
          </a:p>
        </p:txBody>
      </p:sp>
      <p:sp>
        <p:nvSpPr>
          <p:cNvPr id="122" name="Text 3"/>
          <p:cNvSpPr txBox="1"/>
          <p:nvPr/>
        </p:nvSpPr>
        <p:spPr>
          <a:xfrm>
            <a:off x="1325880" y="208360"/>
            <a:ext cx="7680960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Embedding Space Interpretation</a:t>
            </a:r>
          </a:p>
        </p:txBody>
      </p:sp>
      <p:sp>
        <p:nvSpPr>
          <p:cNvPr id="123" name="Shape 4"/>
          <p:cNvSpPr/>
          <p:nvPr/>
        </p:nvSpPr>
        <p:spPr>
          <a:xfrm>
            <a:off x="274318" y="804672"/>
            <a:ext cx="4114805" cy="256033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4" name="Text 5"/>
          <p:cNvSpPr txBox="1"/>
          <p:nvPr/>
        </p:nvSpPr>
        <p:spPr>
          <a:xfrm>
            <a:off x="365758" y="869188"/>
            <a:ext cx="402336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5 ANALYTICAL LENSES ON PERTURBATION EFFECTS (VAT1L + SCN4B sALS)</a:t>
            </a:r>
          </a:p>
        </p:txBody>
      </p:sp>
      <p:sp>
        <p:nvSpPr>
          <p:cNvPr id="125" name="Shape 6"/>
          <p:cNvSpPr/>
          <p:nvPr/>
        </p:nvSpPr>
        <p:spPr>
          <a:xfrm>
            <a:off x="274318" y="1104391"/>
            <a:ext cx="4114805" cy="664720"/>
          </a:xfrm>
          <a:prstGeom prst="rect">
            <a:avLst/>
          </a:prstGeom>
          <a:solidFill>
            <a:srgbClr val="EEF4F8"/>
          </a:solidFill>
          <a:ln w="6350">
            <a:solidFill>
              <a:srgbClr val="D0DDE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6" name="Shape 7"/>
          <p:cNvSpPr/>
          <p:nvPr/>
        </p:nvSpPr>
        <p:spPr>
          <a:xfrm>
            <a:off x="347472" y="1323846"/>
            <a:ext cx="274325" cy="274325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7" name="Text 8"/>
          <p:cNvSpPr txBox="1"/>
          <p:nvPr/>
        </p:nvSpPr>
        <p:spPr>
          <a:xfrm>
            <a:off x="347472" y="1392471"/>
            <a:ext cx="27432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28" name="Text 9"/>
          <p:cNvSpPr txBox="1"/>
          <p:nvPr/>
        </p:nvSpPr>
        <p:spPr>
          <a:xfrm>
            <a:off x="694944" y="1205483"/>
            <a:ext cx="36210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0A23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1 UMAP + Per-Gene Trajectories</a:t>
            </a:r>
          </a:p>
        </p:txBody>
      </p:sp>
      <p:sp>
        <p:nvSpPr>
          <p:cNvPr id="129" name="Text Description 1"/>
          <p:cNvSpPr txBox="1"/>
          <p:nvPr/>
        </p:nvSpPr>
        <p:spPr>
          <a:xfrm>
            <a:off x="694944" y="1345482"/>
            <a:ext cx="3621024" cy="358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4A6070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All perturbations collapse onto the same region as disease/healthy references, which is consistent with pretrained cosine distance of only 0.003–0.006. Per-gene panels show both VAT1L and SCN4B cosine shifts for each gene.</a:t>
            </a:r>
          </a:p>
        </p:txBody>
      </p:sp>
      <p:sp>
        <p:nvSpPr>
          <p:cNvPr id="130" name="Shape 11"/>
          <p:cNvSpPr/>
          <p:nvPr/>
        </p:nvSpPr>
        <p:spPr>
          <a:xfrm>
            <a:off x="267968" y="1837944"/>
            <a:ext cx="4121155" cy="913611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1" name="Shape 12"/>
          <p:cNvSpPr/>
          <p:nvPr/>
        </p:nvSpPr>
        <p:spPr>
          <a:xfrm>
            <a:off x="347472" y="2057399"/>
            <a:ext cx="274325" cy="274325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2" name="Text 13"/>
          <p:cNvSpPr txBox="1"/>
          <p:nvPr/>
        </p:nvSpPr>
        <p:spPr>
          <a:xfrm>
            <a:off x="347472" y="2126022"/>
            <a:ext cx="2743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33" name="Text 14"/>
          <p:cNvSpPr txBox="1"/>
          <p:nvPr/>
        </p:nvSpPr>
        <p:spPr>
          <a:xfrm>
            <a:off x="694944" y="1926333"/>
            <a:ext cx="36210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0A23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PCA: Disease-to-Healthy Axis (PC1 = 35.4% variance)</a:t>
            </a:r>
          </a:p>
        </p:txBody>
      </p:sp>
      <p:sp>
        <p:nvSpPr>
          <p:cNvPr id="134" name="Text Description 2"/>
          <p:cNvSpPr txBox="1"/>
          <p:nvPr/>
        </p:nvSpPr>
        <p:spPr>
          <a:xfrm>
            <a:off x="694944" y="2066333"/>
            <a:ext cx="3621024" cy="638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800">
                <a:solidFill>
                  <a:srgbClr val="4A6070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rPr b="1"/>
              <a:t>Panel A</a:t>
            </a:r>
            <a:r>
              <a:t>: VAT1L perturbation trajectories projected onto population-specific PCA. All genes cluster tightly due to small centroid separation. </a:t>
            </a:r>
          </a:p>
          <a:p>
            <a:pPr>
              <a:defRPr sz="800">
                <a:solidFill>
                  <a:srgbClr val="4A6070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rPr b="1"/>
              <a:t>Panel B</a:t>
            </a:r>
            <a:r>
              <a:t>: Therapeutic specificity decomposition with both populations (◆ VAT1L, ■ SCN4B). STMN2 is a clear outlier in the therapeutic + high off-axis quadrant in both populations. Cross-population consistency visible for most genes.</a:t>
            </a:r>
          </a:p>
        </p:txBody>
      </p:sp>
      <p:sp>
        <p:nvSpPr>
          <p:cNvPr id="135" name="Shape 21"/>
          <p:cNvSpPr/>
          <p:nvPr/>
        </p:nvSpPr>
        <p:spPr>
          <a:xfrm>
            <a:off x="271143" y="3576117"/>
            <a:ext cx="4114805" cy="6326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DE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6" name="Shape 22"/>
          <p:cNvSpPr/>
          <p:nvPr/>
        </p:nvSpPr>
        <p:spPr>
          <a:xfrm>
            <a:off x="347472" y="3054603"/>
            <a:ext cx="274325" cy="274325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7" name="Text 23"/>
          <p:cNvSpPr txBox="1"/>
          <p:nvPr/>
        </p:nvSpPr>
        <p:spPr>
          <a:xfrm>
            <a:off x="347472" y="3123226"/>
            <a:ext cx="2743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38" name="Text 24"/>
          <p:cNvSpPr txBox="1"/>
          <p:nvPr/>
        </p:nvSpPr>
        <p:spPr>
          <a:xfrm>
            <a:off x="694944" y="2910838"/>
            <a:ext cx="36210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0A23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k-NN Neighbourhood Analysis (k=50)</a:t>
            </a:r>
          </a:p>
        </p:txBody>
      </p:sp>
      <p:sp>
        <p:nvSpPr>
          <p:cNvPr id="139" name="Text Description 4"/>
          <p:cNvSpPr txBox="1"/>
          <p:nvPr/>
        </p:nvSpPr>
        <p:spPr>
          <a:xfrm>
            <a:off x="694944" y="3076238"/>
            <a:ext cx="3621024" cy="358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800">
                <a:solidFill>
                  <a:srgbClr val="4A6070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Healthy Neighbour Fraction (HNF) computed for both VAT1L and SCN4B disease perturbations against respective baselines. All ΔHNF values near zero (</a:t>
            </a:r>
            <a:r>
              <a:rPr i="1"/>
              <a:t>expected at pretrained resolution</a:t>
            </a:r>
            <a:r>
              <a:t>). Will become informative after fine-tuning.</a:t>
            </a:r>
          </a:p>
        </p:txBody>
      </p:sp>
      <p:sp>
        <p:nvSpPr>
          <p:cNvPr id="140" name="Shape 27"/>
          <p:cNvSpPr/>
          <p:nvPr/>
        </p:nvSpPr>
        <p:spPr>
          <a:xfrm>
            <a:off x="347472" y="3699254"/>
            <a:ext cx="274325" cy="274325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1" name="Text 28"/>
          <p:cNvSpPr txBox="1"/>
          <p:nvPr/>
        </p:nvSpPr>
        <p:spPr>
          <a:xfrm>
            <a:off x="347472" y="3767880"/>
            <a:ext cx="27432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42" name="Text 29"/>
          <p:cNvSpPr txBox="1"/>
          <p:nvPr/>
        </p:nvSpPr>
        <p:spPr>
          <a:xfrm>
            <a:off x="694944" y="3631691"/>
            <a:ext cx="36210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0A23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Hierarchical Clustering of Displacement Vectors</a:t>
            </a:r>
          </a:p>
        </p:txBody>
      </p:sp>
      <p:sp>
        <p:nvSpPr>
          <p:cNvPr id="143" name="Text Description 5"/>
          <p:cNvSpPr txBox="1"/>
          <p:nvPr/>
        </p:nvSpPr>
        <p:spPr>
          <a:xfrm>
            <a:off x="694944" y="3771691"/>
            <a:ext cx="3621024" cy="358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4A6070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STMN2 and SARM1 co-cluster (top rescue candidates). TARDBP clusters with ACTB (both near-zero displacement). Biological axes not cleanly recovered, signal-to-noise limitation of pretrained embeddings.</a:t>
            </a:r>
          </a:p>
        </p:txBody>
      </p:sp>
      <p:sp>
        <p:nvSpPr>
          <p:cNvPr id="144" name="Shape 31"/>
          <p:cNvSpPr/>
          <p:nvPr/>
        </p:nvSpPr>
        <p:spPr>
          <a:xfrm>
            <a:off x="4663440" y="766570"/>
            <a:ext cx="4010664" cy="361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8"/>
            </a:solidFill>
          </a:ln>
          <a:effectLst>
            <a:outerShdw sx="100000" sy="100000" kx="0" ky="0" algn="b" rotWithShape="0" blurRad="50800" dist="25400" dir="8100000">
              <a:srgbClr val="000000">
                <a:alpha val="10000"/>
              </a:srgbClr>
            </a:outerShdw>
          </a:effectLst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pic>
        <p:nvPicPr>
          <p:cNvPr id="145" name="Image Task3 Summary" descr="Image Task3 Summary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09159" y="801899"/>
            <a:ext cx="3667237" cy="3463502"/>
          </a:xfrm>
          <a:prstGeom prst="rect">
            <a:avLst/>
          </a:prstGeom>
          <a:ln w="12700">
            <a:miter lim="400000"/>
          </a:ln>
        </p:spPr>
      </p:pic>
      <p:sp>
        <p:nvSpPr>
          <p:cNvPr id="146" name="Shape 26"/>
          <p:cNvSpPr/>
          <p:nvPr/>
        </p:nvSpPr>
        <p:spPr>
          <a:xfrm>
            <a:off x="271143" y="4265753"/>
            <a:ext cx="4114805" cy="731524"/>
          </a:xfrm>
          <a:prstGeom prst="rect">
            <a:avLst/>
          </a:prstGeom>
          <a:solidFill>
            <a:srgbClr val="EEF4F8"/>
          </a:solidFill>
          <a:ln w="6350">
            <a:solidFill>
              <a:srgbClr val="D0DDE8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7" name="Shape 22"/>
          <p:cNvSpPr/>
          <p:nvPr/>
        </p:nvSpPr>
        <p:spPr>
          <a:xfrm>
            <a:off x="344297" y="4515461"/>
            <a:ext cx="274325" cy="274325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8" name="Text 23"/>
          <p:cNvSpPr txBox="1"/>
          <p:nvPr/>
        </p:nvSpPr>
        <p:spPr>
          <a:xfrm>
            <a:off x="344297" y="4571385"/>
            <a:ext cx="2743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49" name="Text 24"/>
          <p:cNvSpPr txBox="1"/>
          <p:nvPr/>
        </p:nvSpPr>
        <p:spPr>
          <a:xfrm>
            <a:off x="691769" y="4320896"/>
            <a:ext cx="36210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0A23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Bidirectional Consistency</a:t>
            </a:r>
          </a:p>
        </p:txBody>
      </p:sp>
      <p:sp>
        <p:nvSpPr>
          <p:cNvPr id="150" name="Text Description 4"/>
          <p:cNvSpPr txBox="1"/>
          <p:nvPr/>
        </p:nvSpPr>
        <p:spPr>
          <a:xfrm>
            <a:off x="691769" y="4473596"/>
            <a:ext cx="3621025" cy="485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4A6070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Strongest mechanistic signal: 5 genes show opposing shifts in disease vs healthy cells (STMN2, SARM1, OPTN, TBK1, NEK1). 4 genes shift same direction in both conditions (UNC13A, POU3F1, DCTN1, DYNC1H1: context-independent effects). ACTB and TARDBP near-zero in both.</a:t>
            </a:r>
          </a:p>
        </p:txBody>
      </p:sp>
      <p:sp>
        <p:nvSpPr>
          <p:cNvPr id="151" name="Text 24"/>
          <p:cNvSpPr txBox="1"/>
          <p:nvPr/>
        </p:nvSpPr>
        <p:spPr>
          <a:xfrm>
            <a:off x="4660738" y="4496598"/>
            <a:ext cx="36210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900">
                <a:solidFill>
                  <a:srgbClr val="0A2342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KEY FINDING</a:t>
            </a:r>
          </a:p>
        </p:txBody>
      </p:sp>
      <p:sp>
        <p:nvSpPr>
          <p:cNvPr id="152" name="Text Description 4"/>
          <p:cNvSpPr txBox="1"/>
          <p:nvPr/>
        </p:nvSpPr>
        <p:spPr>
          <a:xfrm>
            <a:off x="4660738" y="4636598"/>
            <a:ext cx="3990668" cy="3585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4A6070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STMN2 is the only gene with convergent signal across all analytical lenses: largest on-axis shift, highest concordance, bidirectional consistency, and cross-population replication between VAT1L and SCN4B.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207"/>
          <p:cNvSpPr/>
          <p:nvPr/>
        </p:nvSpPr>
        <p:spPr>
          <a:xfrm>
            <a:off x="4750395" y="3987212"/>
            <a:ext cx="4190477" cy="838395"/>
          </a:xfrm>
          <a:prstGeom prst="rect">
            <a:avLst/>
          </a:prstGeom>
          <a:solidFill>
            <a:srgbClr val="EAF0F8"/>
          </a:solidFill>
          <a:ln>
            <a:solidFill>
              <a:srgbClr val="BACED9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5" name="Shape 0"/>
          <p:cNvSpPr/>
          <p:nvPr/>
        </p:nvSpPr>
        <p:spPr>
          <a:xfrm>
            <a:off x="0" y="-1"/>
            <a:ext cx="9144000" cy="65837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" name="Shape 1"/>
          <p:cNvSpPr/>
          <p:nvPr/>
        </p:nvSpPr>
        <p:spPr>
          <a:xfrm>
            <a:off x="-1" y="-1"/>
            <a:ext cx="1234442" cy="65837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" name="Text 2"/>
          <p:cNvSpPr txBox="1"/>
          <p:nvPr/>
        </p:nvSpPr>
        <p:spPr>
          <a:xfrm>
            <a:off x="-1" y="260647"/>
            <a:ext cx="123444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TASK 4</a:t>
            </a:r>
          </a:p>
        </p:txBody>
      </p:sp>
      <p:sp>
        <p:nvSpPr>
          <p:cNvPr id="158" name="Text 3"/>
          <p:cNvSpPr txBox="1"/>
          <p:nvPr/>
        </p:nvSpPr>
        <p:spPr>
          <a:xfrm>
            <a:off x="1325880" y="208360"/>
            <a:ext cx="7680960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Drug Target Prioritisation / Next Steps</a:t>
            </a:r>
          </a:p>
        </p:txBody>
      </p:sp>
      <p:grpSp>
        <p:nvGrpSpPr>
          <p:cNvPr id="161" name="Shape 200"/>
          <p:cNvGrpSpPr/>
          <p:nvPr/>
        </p:nvGrpSpPr>
        <p:grpSpPr>
          <a:xfrm>
            <a:off x="274319" y="729999"/>
            <a:ext cx="4200002" cy="190004"/>
            <a:chOff x="0" y="0"/>
            <a:chExt cx="4200001" cy="190002"/>
          </a:xfrm>
        </p:grpSpPr>
        <p:sp>
          <p:nvSpPr>
            <p:cNvPr id="159" name="Rectangle"/>
            <p:cNvSpPr/>
            <p:nvPr/>
          </p:nvSpPr>
          <p:spPr>
            <a:xfrm>
              <a:off x="-1" y="-1"/>
              <a:ext cx="4200002" cy="190003"/>
            </a:xfrm>
            <a:prstGeom prst="rect">
              <a:avLst/>
            </a:prstGeom>
            <a:solidFill>
              <a:srgbClr val="0A2342"/>
            </a:solidFill>
            <a:ln w="12700" cap="flat">
              <a:solidFill>
                <a:srgbClr val="0A2342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60" name="KEY FINDINGS and NEXT STEPS"/>
            <p:cNvSpPr txBox="1"/>
            <p:nvPr/>
          </p:nvSpPr>
          <p:spPr>
            <a:xfrm>
              <a:off x="74930" y="3605"/>
              <a:ext cx="4050141" cy="1827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2859" tIns="22859" rIns="22859" bIns="22859" numCol="1" anchor="ctr">
              <a:spAutoFit/>
            </a:bodyPr>
            <a:lstStyle>
              <a:lvl1pPr algn="ctr">
                <a:defRPr b="1" sz="1000"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COMPOSITE RANKING — 6 METRICS × 10 GENES</a:t>
              </a:r>
            </a:p>
          </p:txBody>
        </p:sp>
      </p:grpSp>
      <p:sp>
        <p:nvSpPr>
          <p:cNvPr id="162" name="Text 203"/>
          <p:cNvSpPr txBox="1"/>
          <p:nvPr/>
        </p:nvSpPr>
        <p:spPr>
          <a:xfrm>
            <a:off x="389179" y="1565739"/>
            <a:ext cx="4062282" cy="3225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859" tIns="22859" rIns="22859" bIns="22859">
            <a:spAutoFit/>
          </a:bodyPr>
          <a:lstStyle/>
          <a:p>
            <a:pPr>
              <a:defRPr b="1" sz="900">
                <a:solidFill>
                  <a:srgbClr val="0E7C7B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STMN2 restore</a:t>
            </a:r>
          </a:p>
          <a:p>
            <a:pPr>
              <a:lnSpc>
                <a:spcPts val="1100"/>
              </a:lnSpc>
              <a:defRPr i="1" sz="800">
                <a:solidFill>
                  <a:srgbClr val="2A5A6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QRL-201 (TDP-43 splicing modulator) in Phase 1/2 clinical trials</a:t>
            </a:r>
          </a:p>
        </p:txBody>
      </p:sp>
      <p:sp>
        <p:nvSpPr>
          <p:cNvPr id="163" name="Shape 204"/>
          <p:cNvSpPr/>
          <p:nvPr/>
        </p:nvSpPr>
        <p:spPr>
          <a:xfrm>
            <a:off x="274319" y="1877998"/>
            <a:ext cx="4190476" cy="661546"/>
          </a:xfrm>
          <a:prstGeom prst="rect">
            <a:avLst/>
          </a:prstGeom>
          <a:solidFill>
            <a:srgbClr val="FEF3E6"/>
          </a:solidFill>
          <a:ln>
            <a:solidFill>
              <a:srgbClr val="F5CFAA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" name="Shape 205"/>
          <p:cNvSpPr/>
          <p:nvPr/>
        </p:nvSpPr>
        <p:spPr>
          <a:xfrm>
            <a:off x="274320" y="1877998"/>
            <a:ext cx="72002" cy="661546"/>
          </a:xfrm>
          <a:prstGeom prst="rect">
            <a:avLst/>
          </a:prstGeom>
          <a:solidFill>
            <a:srgbClr val="C96A1F"/>
          </a:solidFill>
          <a:ln w="12700">
            <a:solidFill>
              <a:srgbClr val="C96A1F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" name="Shape 207"/>
          <p:cNvSpPr/>
          <p:nvPr/>
        </p:nvSpPr>
        <p:spPr>
          <a:xfrm>
            <a:off x="274319" y="2575099"/>
            <a:ext cx="4190476" cy="515973"/>
          </a:xfrm>
          <a:prstGeom prst="rect">
            <a:avLst/>
          </a:prstGeom>
          <a:solidFill>
            <a:srgbClr val="EAF0F8"/>
          </a:solidFill>
          <a:ln>
            <a:solidFill>
              <a:srgbClr val="BACED9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6" name="Shape 208"/>
          <p:cNvSpPr/>
          <p:nvPr/>
        </p:nvSpPr>
        <p:spPr>
          <a:xfrm>
            <a:off x="274320" y="2575099"/>
            <a:ext cx="72002" cy="515973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7" name="Text 209"/>
          <p:cNvSpPr txBox="1"/>
          <p:nvPr/>
        </p:nvSpPr>
        <p:spPr>
          <a:xfrm>
            <a:off x="389179" y="2601946"/>
            <a:ext cx="4062282" cy="462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859" tIns="22859" rIns="22859" bIns="22859">
            <a:spAutoFit/>
          </a:bodyPr>
          <a:lstStyle/>
          <a:p>
            <a:pPr>
              <a:defRPr b="1" sz="900">
                <a:solidFill>
                  <a:srgbClr val="2C5F8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Tier 3: Mechanism Validators</a:t>
            </a:r>
          </a:p>
          <a:p>
            <a:pPr>
              <a:lnSpc>
                <a:spcPts val="1100"/>
              </a:lnSpc>
              <a:defRPr sz="800">
                <a:solidFill>
                  <a:srgbClr val="2A5A6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DYNC1H1 (0.461), DCTN1 (0.335): KD worsens both disease and healthy cells → context-independent. Confirms axonal transport pathway.</a:t>
            </a:r>
          </a:p>
        </p:txBody>
      </p:sp>
      <p:sp>
        <p:nvSpPr>
          <p:cNvPr id="168" name="Text 251"/>
          <p:cNvSpPr txBox="1"/>
          <p:nvPr/>
        </p:nvSpPr>
        <p:spPr>
          <a:xfrm>
            <a:off x="4842859" y="5799999"/>
            <a:ext cx="4003960" cy="26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859" tIns="22859" rIns="22859" bIns="22859">
            <a:spAutoFit/>
          </a:bodyPr>
          <a:lstStyle>
            <a:lvl1pPr algn="ctr">
              <a:defRPr i="1" sz="700">
                <a:solidFill>
                  <a:srgbClr val="3A5A6A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r>
              <a:t>Bidirectional consistency: STMN2 uniquely in rescue quadrant (Δcos &gt; 0 &amp; bidirectional ✓). Only gene satisfying all 6 convergence criteria.</a:t>
            </a:r>
          </a:p>
        </p:txBody>
      </p:sp>
      <p:pic>
        <p:nvPicPr>
          <p:cNvPr id="169" name="task4_ranking_decomposition.png" descr="task4_ranking_decomposition.png"/>
          <p:cNvPicPr>
            <a:picLocks noChangeAspect="1"/>
          </p:cNvPicPr>
          <p:nvPr/>
        </p:nvPicPr>
        <p:blipFill>
          <a:blip r:embed="rId2">
            <a:extLst/>
          </a:blip>
          <a:srcRect l="0" t="0" r="49516" b="0"/>
          <a:stretch>
            <a:fillRect/>
          </a:stretch>
        </p:blipFill>
        <p:spPr>
          <a:xfrm>
            <a:off x="5024509" y="722195"/>
            <a:ext cx="3408187" cy="2973201"/>
          </a:xfrm>
          <a:prstGeom prst="rect">
            <a:avLst/>
          </a:prstGeom>
          <a:ln w="12700">
            <a:miter lim="400000"/>
          </a:ln>
        </p:spPr>
      </p:pic>
      <p:sp>
        <p:nvSpPr>
          <p:cNvPr id="170" name="Text 203"/>
          <p:cNvSpPr txBox="1"/>
          <p:nvPr/>
        </p:nvSpPr>
        <p:spPr>
          <a:xfrm>
            <a:off x="389180" y="1893344"/>
            <a:ext cx="4062280" cy="601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859" tIns="22859" rIns="22859" bIns="22859">
            <a:spAutoFit/>
          </a:bodyPr>
          <a:lstStyle/>
          <a:p>
            <a:pPr>
              <a:defRPr b="1" sz="900">
                <a:solidFill>
                  <a:srgbClr val="0E7C7B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Tier 2: Consistent Rescue</a:t>
            </a:r>
          </a:p>
          <a:p>
            <a:pPr>
              <a:lnSpc>
                <a:spcPts val="1100"/>
              </a:lnSpc>
              <a:defRPr sz="800">
                <a:solidFill>
                  <a:srgbClr val="2A5A6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OPTN KD (0.634): bidirectional ✓, p=0.038*. TARDBP KD (0.427): bidirectional ✓ but near-zero shift (TDP-43 is invisible to rank encoding (ubiquitous → low rank)). Model detects pathway through STMN2, not the hub gene. TBK1 KD (0.417): bidirectional ✓, additive with OPTN.</a:t>
            </a:r>
          </a:p>
        </p:txBody>
      </p:sp>
      <p:sp>
        <p:nvSpPr>
          <p:cNvPr id="171" name="Shape 201"/>
          <p:cNvSpPr/>
          <p:nvPr/>
        </p:nvSpPr>
        <p:spPr>
          <a:xfrm>
            <a:off x="275113" y="956077"/>
            <a:ext cx="4200002" cy="893063"/>
          </a:xfrm>
          <a:prstGeom prst="rect">
            <a:avLst/>
          </a:prstGeom>
          <a:solidFill>
            <a:srgbClr val="F3CCB0"/>
          </a:solidFill>
          <a:ln>
            <a:solidFill>
              <a:srgbClr val="B8DFE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" name="Shape 202"/>
          <p:cNvSpPr/>
          <p:nvPr/>
        </p:nvSpPr>
        <p:spPr>
          <a:xfrm>
            <a:off x="275113" y="956077"/>
            <a:ext cx="72002" cy="886806"/>
          </a:xfrm>
          <a:prstGeom prst="rect">
            <a:avLst/>
          </a:prstGeom>
          <a:solidFill>
            <a:srgbClr val="B21710"/>
          </a:solidFill>
          <a:ln w="12700">
            <a:solidFill>
              <a:srgbClr val="7A1919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3" name="Text 203"/>
          <p:cNvSpPr txBox="1"/>
          <p:nvPr/>
        </p:nvSpPr>
        <p:spPr>
          <a:xfrm>
            <a:off x="389972" y="964519"/>
            <a:ext cx="4062283" cy="8507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859" tIns="22859" rIns="22859" bIns="22859">
            <a:spAutoFit/>
          </a:bodyPr>
          <a:lstStyle/>
          <a:p>
            <a:pPr>
              <a:defRPr b="1" sz="900">
                <a:solidFill>
                  <a:srgbClr val="0E7C7B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Tier 1: Strong Rescue </a:t>
            </a:r>
          </a:p>
          <a:p>
            <a:pPr>
              <a:defRPr sz="800">
                <a:solidFill>
                  <a:srgbClr val="4A6070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#1 STMN2 Largest rescue shift, bidirectional ✓, cross-pop ✓, dose-response. Only gene satisfying all 6 metrics. Near-zero log2FC (−0.13) because pathology is isoform-level (cryptic exon), not total expression. QRL-201 ASO in Phase 1/2.</a:t>
            </a:r>
          </a:p>
          <a:p>
            <a:pPr>
              <a:defRPr sz="800">
                <a:solidFill>
                  <a:srgbClr val="4A6070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#2 SARM1 KD (0.692): Highest Cohen's d, bidirectional ✓. Gain-of-function pathology at protein level. Druggable NADase, clinical-stage inhibitors exist.</a:t>
            </a:r>
          </a:p>
        </p:txBody>
      </p:sp>
      <p:sp>
        <p:nvSpPr>
          <p:cNvPr id="174" name="Shape 208"/>
          <p:cNvSpPr/>
          <p:nvPr/>
        </p:nvSpPr>
        <p:spPr>
          <a:xfrm>
            <a:off x="4750395" y="3987212"/>
            <a:ext cx="72002" cy="838395"/>
          </a:xfrm>
          <a:prstGeom prst="rect">
            <a:avLst/>
          </a:prstGeom>
          <a:solidFill>
            <a:srgbClr val="2C5F8A"/>
          </a:solidFill>
          <a:ln w="12700">
            <a:solidFill>
              <a:srgbClr val="2C5F8A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5" name="Text 209"/>
          <p:cNvSpPr txBox="1"/>
          <p:nvPr/>
        </p:nvSpPr>
        <p:spPr>
          <a:xfrm>
            <a:off x="4865255" y="4059613"/>
            <a:ext cx="4062282" cy="718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859" tIns="22859" rIns="22859" bIns="22859">
            <a:spAutoFit/>
          </a:bodyPr>
          <a:lstStyle/>
          <a:p>
            <a:pPr marL="150394" indent="-150394">
              <a:buSzPct val="100000"/>
              <a:buAutoNum type="circleNumDbPlain" startAt="1"/>
              <a:defRPr b="1" sz="900">
                <a:solidFill>
                  <a:srgbClr val="2C5F8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 Fine-tune GeneFormer on VAT1L+ &amp; SCN4B+ cells (disease vs healthy)</a:t>
            </a:r>
          </a:p>
          <a:p>
            <a:pPr marL="150394" indent="-150394">
              <a:buSzPct val="100000"/>
              <a:buAutoNum type="circleNumDbPlain" startAt="1"/>
              <a:defRPr b="1" sz="900">
                <a:solidFill>
                  <a:srgbClr val="2C5F8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 Genome-wide perturbation screen post fine-tuning for unbiased target disc.</a:t>
            </a:r>
          </a:p>
          <a:p>
            <a:pPr marL="150394" indent="-150394">
              <a:buSzPct val="100000"/>
              <a:buAutoNum type="circleNumDbPlain" startAt="1"/>
              <a:defRPr b="1" sz="900">
                <a:solidFill>
                  <a:srgbClr val="2C5F8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 Cross-model replication: run panel through scGPT + TranscriptFormer (both in Helical package)</a:t>
            </a:r>
          </a:p>
          <a:p>
            <a:pPr marL="150394" indent="-150394">
              <a:buSzPct val="100000"/>
              <a:buAutoNum type="circleNumDbPlain" startAt="1"/>
              <a:defRPr b="1" sz="900">
                <a:solidFill>
                  <a:srgbClr val="2C5F8A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 </a:t>
            </a:r>
            <a:r>
              <a:rPr i="1"/>
              <a:t>Experimental: STMN2 ASO + SARM1 inhibitor in ALS iPSC motor neurons.</a:t>
            </a:r>
          </a:p>
        </p:txBody>
      </p:sp>
      <p:grpSp>
        <p:nvGrpSpPr>
          <p:cNvPr id="178" name="Shape 200"/>
          <p:cNvGrpSpPr/>
          <p:nvPr/>
        </p:nvGrpSpPr>
        <p:grpSpPr>
          <a:xfrm>
            <a:off x="4744838" y="3785709"/>
            <a:ext cx="4200002" cy="190004"/>
            <a:chOff x="0" y="0"/>
            <a:chExt cx="4200001" cy="190002"/>
          </a:xfrm>
        </p:grpSpPr>
        <p:sp>
          <p:nvSpPr>
            <p:cNvPr id="176" name="Rectangle"/>
            <p:cNvSpPr/>
            <p:nvPr/>
          </p:nvSpPr>
          <p:spPr>
            <a:xfrm>
              <a:off x="-1" y="-1"/>
              <a:ext cx="4200002" cy="190003"/>
            </a:xfrm>
            <a:prstGeom prst="rect">
              <a:avLst/>
            </a:prstGeom>
            <a:solidFill>
              <a:srgbClr val="0A2342"/>
            </a:solidFill>
            <a:ln w="12700" cap="flat">
              <a:solidFill>
                <a:srgbClr val="0A2342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77" name="KEY FINDINGS and NEXT STEPS"/>
            <p:cNvSpPr txBox="1"/>
            <p:nvPr/>
          </p:nvSpPr>
          <p:spPr>
            <a:xfrm>
              <a:off x="74930" y="3605"/>
              <a:ext cx="4050141" cy="1827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2859" tIns="22859" rIns="22859" bIns="22859" numCol="1" anchor="ctr">
              <a:spAutoFit/>
            </a:bodyPr>
            <a:lstStyle>
              <a:lvl1pPr algn="ctr">
                <a:defRPr b="1" sz="1000"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lvl1pPr>
            </a:lstStyle>
            <a:p>
              <a:pPr/>
              <a:r>
                <a:t>NEXT STEPS</a:t>
              </a:r>
            </a:p>
          </p:txBody>
        </p:sp>
      </p:grpSp>
      <p:sp>
        <p:nvSpPr>
          <p:cNvPr id="179" name="Shape 207"/>
          <p:cNvSpPr/>
          <p:nvPr/>
        </p:nvSpPr>
        <p:spPr>
          <a:xfrm>
            <a:off x="280670" y="3133314"/>
            <a:ext cx="4190475" cy="379449"/>
          </a:xfrm>
          <a:prstGeom prst="rect">
            <a:avLst/>
          </a:prstGeom>
          <a:gradFill>
            <a:gsLst>
              <a:gs pos="0">
                <a:srgbClr val="6DBC38"/>
              </a:gs>
              <a:gs pos="100000">
                <a:srgbClr val="BAFD9D"/>
              </a:gs>
            </a:gsLst>
            <a:lin ang="16200000"/>
          </a:gra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0" name="Shape 208"/>
          <p:cNvSpPr/>
          <p:nvPr/>
        </p:nvSpPr>
        <p:spPr>
          <a:xfrm>
            <a:off x="280670" y="3133314"/>
            <a:ext cx="72002" cy="366749"/>
          </a:xfrm>
          <a:prstGeom prst="rect">
            <a:avLst/>
          </a:prstGeom>
          <a:solidFill>
            <a:srgbClr val="1C7A4A"/>
          </a:solidFill>
          <a:ln w="12700">
            <a:solidFill>
              <a:srgbClr val="0B7A4A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1" name="Text 209"/>
          <p:cNvSpPr txBox="1"/>
          <p:nvPr/>
        </p:nvSpPr>
        <p:spPr>
          <a:xfrm>
            <a:off x="395529" y="3160162"/>
            <a:ext cx="4062283" cy="325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859" tIns="22859" rIns="22859" bIns="22859">
            <a:spAutoFit/>
          </a:bodyPr>
          <a:lstStyle/>
          <a:p>
            <a:pPr>
              <a:defRPr sz="900">
                <a:solidFill>
                  <a:srgbClr val="034E21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Tier 4: Ambiguous: </a:t>
            </a:r>
            <a:r>
              <a:rPr i="1" sz="700"/>
              <a:t>UNC13A, NEK1, POU3F1. inconsistent across populations.</a:t>
            </a:r>
          </a:p>
          <a:p>
            <a:pPr>
              <a:lnSpc>
                <a:spcPts val="1100"/>
              </a:lnSpc>
              <a:defRPr sz="800">
                <a:solidFill>
                  <a:srgbClr val="034E21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rPr sz="900"/>
              <a:t>Control</a:t>
            </a:r>
            <a:r>
              <a:t>: ACTB: near-zero shift, validates framework specificity.</a:t>
            </a:r>
          </a:p>
        </p:txBody>
      </p:sp>
      <p:sp>
        <p:nvSpPr>
          <p:cNvPr id="182" name="Shape 201"/>
          <p:cNvSpPr/>
          <p:nvPr/>
        </p:nvSpPr>
        <p:spPr>
          <a:xfrm>
            <a:off x="275113" y="3781097"/>
            <a:ext cx="4200002" cy="1088573"/>
          </a:xfrm>
          <a:prstGeom prst="rect">
            <a:avLst/>
          </a:prstGeom>
          <a:gradFill>
            <a:gsLst>
              <a:gs pos="0">
                <a:srgbClr val="499CE7"/>
              </a:gs>
              <a:gs pos="100000">
                <a:schemeClr val="accent5">
                  <a:hueOff val="329330"/>
                  <a:satOff val="40776"/>
                  <a:lumOff val="24655"/>
                </a:schemeClr>
              </a:gs>
            </a:gsLst>
            <a:lin ang="16200000"/>
          </a:gradFill>
          <a:ln>
            <a:solidFill>
              <a:schemeClr val="accent1">
                <a:satOff val="-3547"/>
                <a:lumOff val="-10352"/>
              </a:schemeClr>
            </a:solidFill>
          </a:ln>
        </p:spPr>
        <p:txBody>
          <a:bodyPr lIns="45718" tIns="45718" rIns="45718" bIns="45718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" name="Shape 202"/>
          <p:cNvSpPr/>
          <p:nvPr/>
        </p:nvSpPr>
        <p:spPr>
          <a:xfrm>
            <a:off x="275113" y="3781097"/>
            <a:ext cx="72002" cy="1088573"/>
          </a:xfrm>
          <a:prstGeom prst="rect">
            <a:avLst/>
          </a:prstGeom>
          <a:solidFill>
            <a:srgbClr val="1612A3"/>
          </a:solidFill>
          <a:ln w="12700">
            <a:solidFill>
              <a:srgbClr val="0E7C7B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4" name="Text 203"/>
          <p:cNvSpPr txBox="1"/>
          <p:nvPr/>
        </p:nvSpPr>
        <p:spPr>
          <a:xfrm>
            <a:off x="389973" y="3802238"/>
            <a:ext cx="4062282" cy="924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859" tIns="22859" rIns="22859" bIns="22859">
            <a:spAutoFit/>
          </a:bodyPr>
          <a:lstStyle/>
          <a:p>
            <a:pPr>
              <a:defRPr b="1" sz="900">
                <a:solidFill>
                  <a:srgbClr val="0E7C7B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COMBINATORIAL RESULT</a:t>
            </a:r>
          </a:p>
          <a:p>
            <a:pPr>
              <a:defRPr sz="800">
                <a:solidFill>
                  <a:srgbClr val="4A6070"/>
                </a:solidFill>
                <a:latin typeface="+mj-lt"/>
                <a:ea typeface="+mj-ea"/>
                <a:cs typeface="+mj-cs"/>
                <a:sym typeface="Calibri"/>
              </a:defRPr>
            </a:pPr>
            <a:r>
              <a:t>Four-gene druggable combination: STMN2 + UNC13A + DCTN1 + DYNC1H1 restore (p = 0.009). The cross-pathway synergy between TDP-43 downstream restoration and axonal transport restoration is the actionable therapeutic hypothesis: transport genes contribute nothing alone but produce additive effects when combined with TDP-43 downstream targets. TARDBP knockdown was excluded from therapeutic combinations because TDP-43 is an essential protein — all clinical programmes target downstream consequences, not TDP-43 itself.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