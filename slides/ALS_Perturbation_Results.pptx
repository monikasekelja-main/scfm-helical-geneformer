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1370012" y="577453"/>
            <a:ext cx="7315201" cy="12513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5103812" y="1828800"/>
            <a:ext cx="3581401" cy="3314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6294578" y="4643111"/>
            <a:ext cx="258623" cy="248304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-1" y="0"/>
            <a:ext cx="164594" cy="51435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" name="Shape 1"/>
          <p:cNvSpPr/>
          <p:nvPr/>
        </p:nvSpPr>
        <p:spPr>
          <a:xfrm>
            <a:off x="164590" y="3291840"/>
            <a:ext cx="8979412" cy="54866"/>
          </a:xfrm>
          <a:prstGeom prst="rect">
            <a:avLst/>
          </a:prstGeom>
          <a:solidFill>
            <a:srgbClr val="17A8A7"/>
          </a:solidFill>
          <a:ln w="12700">
            <a:solidFill>
              <a:srgbClr val="17A8A7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" name="Text 2"/>
          <p:cNvSpPr txBox="1"/>
          <p:nvPr/>
        </p:nvSpPr>
        <p:spPr>
          <a:xfrm>
            <a:off x="411479" y="799752"/>
            <a:ext cx="8412482" cy="4578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6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Gene Knockout Analysis with Embeddings</a:t>
            </a:r>
          </a:p>
        </p:txBody>
      </p:sp>
      <p:sp>
        <p:nvSpPr>
          <p:cNvPr id="23" name="Text 3"/>
          <p:cNvSpPr txBox="1"/>
          <p:nvPr/>
        </p:nvSpPr>
        <p:spPr>
          <a:xfrm>
            <a:off x="411479" y="1642679"/>
            <a:ext cx="8412482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17A8A7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In-Silico ALS Perturbation · GeneFormer V2 · Motor Cortex Single-Cell Analysis</a:t>
            </a:r>
          </a:p>
        </p:txBody>
      </p:sp>
      <p:sp>
        <p:nvSpPr>
          <p:cNvPr id="24" name="Shape 4"/>
          <p:cNvSpPr/>
          <p:nvPr/>
        </p:nvSpPr>
        <p:spPr>
          <a:xfrm>
            <a:off x="411479" y="2057400"/>
            <a:ext cx="4114802" cy="0"/>
          </a:xfrm>
          <a:prstGeom prst="line">
            <a:avLst/>
          </a:prstGeom>
          <a:ln w="1905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" name="Shape 5"/>
          <p:cNvSpPr/>
          <p:nvPr/>
        </p:nvSpPr>
        <p:spPr>
          <a:xfrm>
            <a:off x="411479" y="2377438"/>
            <a:ext cx="1965962" cy="1097282"/>
          </a:xfrm>
          <a:prstGeom prst="rect">
            <a:avLst/>
          </a:prstGeom>
          <a:solidFill>
            <a:srgbClr val="0E3A5C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6" name="Shape 6"/>
          <p:cNvSpPr/>
          <p:nvPr/>
        </p:nvSpPr>
        <p:spPr>
          <a:xfrm>
            <a:off x="411479" y="2377438"/>
            <a:ext cx="1965962" cy="274322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7" name="Text 7"/>
          <p:cNvSpPr txBox="1"/>
          <p:nvPr/>
        </p:nvSpPr>
        <p:spPr>
          <a:xfrm>
            <a:off x="411479" y="2451099"/>
            <a:ext cx="19659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Task 1</a:t>
            </a:r>
          </a:p>
        </p:txBody>
      </p:sp>
      <p:sp>
        <p:nvSpPr>
          <p:cNvPr id="28" name="Text 8"/>
          <p:cNvSpPr txBox="1"/>
          <p:nvPr/>
        </p:nvSpPr>
        <p:spPr>
          <a:xfrm>
            <a:off x="457198" y="2912154"/>
            <a:ext cx="1874523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000">
                <a:solidFill>
                  <a:srgbClr val="B8D4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Perturbation</a:t>
            </a:r>
          </a:p>
          <a:p>
            <a:pPr algn="ctr">
              <a:defRPr sz="1000">
                <a:solidFill>
                  <a:srgbClr val="B8D4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Workflow Design</a:t>
            </a:r>
          </a:p>
        </p:txBody>
      </p:sp>
      <p:sp>
        <p:nvSpPr>
          <p:cNvPr id="29" name="Shape 9"/>
          <p:cNvSpPr/>
          <p:nvPr/>
        </p:nvSpPr>
        <p:spPr>
          <a:xfrm>
            <a:off x="2587750" y="2377438"/>
            <a:ext cx="1965962" cy="1097282"/>
          </a:xfrm>
          <a:prstGeom prst="rect">
            <a:avLst/>
          </a:prstGeom>
          <a:solidFill>
            <a:srgbClr val="0E3A5C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0" name="Shape 10"/>
          <p:cNvSpPr/>
          <p:nvPr/>
        </p:nvSpPr>
        <p:spPr>
          <a:xfrm>
            <a:off x="2587750" y="2377438"/>
            <a:ext cx="1965962" cy="274322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1" name="Text 11"/>
          <p:cNvSpPr txBox="1"/>
          <p:nvPr/>
        </p:nvSpPr>
        <p:spPr>
          <a:xfrm>
            <a:off x="2587750" y="2451099"/>
            <a:ext cx="19659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Task 2</a:t>
            </a:r>
          </a:p>
        </p:txBody>
      </p:sp>
      <p:sp>
        <p:nvSpPr>
          <p:cNvPr id="32" name="Text 12"/>
          <p:cNvSpPr txBox="1"/>
          <p:nvPr/>
        </p:nvSpPr>
        <p:spPr>
          <a:xfrm>
            <a:off x="2633471" y="2912154"/>
            <a:ext cx="1874523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000">
                <a:solidFill>
                  <a:srgbClr val="B8D4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ALS Gene</a:t>
            </a:r>
          </a:p>
          <a:p>
            <a:pPr algn="ctr">
              <a:defRPr sz="1000">
                <a:solidFill>
                  <a:srgbClr val="B8D4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Perturbations</a:t>
            </a:r>
          </a:p>
        </p:txBody>
      </p:sp>
      <p:sp>
        <p:nvSpPr>
          <p:cNvPr id="33" name="Shape 13"/>
          <p:cNvSpPr/>
          <p:nvPr/>
        </p:nvSpPr>
        <p:spPr>
          <a:xfrm>
            <a:off x="4764023" y="2377438"/>
            <a:ext cx="1965962" cy="1097282"/>
          </a:xfrm>
          <a:prstGeom prst="rect">
            <a:avLst/>
          </a:prstGeom>
          <a:solidFill>
            <a:srgbClr val="0E3A5C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4" name="Shape 14"/>
          <p:cNvSpPr/>
          <p:nvPr/>
        </p:nvSpPr>
        <p:spPr>
          <a:xfrm>
            <a:off x="4764023" y="2377438"/>
            <a:ext cx="1965962" cy="274322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5" name="Text 15"/>
          <p:cNvSpPr txBox="1"/>
          <p:nvPr/>
        </p:nvSpPr>
        <p:spPr>
          <a:xfrm>
            <a:off x="4764023" y="2451099"/>
            <a:ext cx="19659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Task 3</a:t>
            </a:r>
          </a:p>
        </p:txBody>
      </p:sp>
      <p:sp>
        <p:nvSpPr>
          <p:cNvPr id="36" name="Text 16"/>
          <p:cNvSpPr txBox="1"/>
          <p:nvPr/>
        </p:nvSpPr>
        <p:spPr>
          <a:xfrm>
            <a:off x="4809742" y="2912154"/>
            <a:ext cx="1874523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000">
                <a:solidFill>
                  <a:srgbClr val="B8D4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Embedding Space</a:t>
            </a:r>
          </a:p>
          <a:p>
            <a:pPr algn="ctr">
              <a:defRPr sz="1000">
                <a:solidFill>
                  <a:srgbClr val="B8D4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Interpretation</a:t>
            </a:r>
          </a:p>
        </p:txBody>
      </p:sp>
      <p:sp>
        <p:nvSpPr>
          <p:cNvPr id="37" name="Shape 17"/>
          <p:cNvSpPr/>
          <p:nvPr/>
        </p:nvSpPr>
        <p:spPr>
          <a:xfrm>
            <a:off x="6940294" y="2377438"/>
            <a:ext cx="1965962" cy="1097282"/>
          </a:xfrm>
          <a:prstGeom prst="rect">
            <a:avLst/>
          </a:prstGeom>
          <a:solidFill>
            <a:srgbClr val="0E3A5C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8" name="Shape 18"/>
          <p:cNvSpPr/>
          <p:nvPr/>
        </p:nvSpPr>
        <p:spPr>
          <a:xfrm>
            <a:off x="6940294" y="2377438"/>
            <a:ext cx="1965962" cy="274322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9" name="Text 19"/>
          <p:cNvSpPr txBox="1"/>
          <p:nvPr/>
        </p:nvSpPr>
        <p:spPr>
          <a:xfrm>
            <a:off x="6940294" y="2451099"/>
            <a:ext cx="19659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Task 4</a:t>
            </a:r>
          </a:p>
        </p:txBody>
      </p:sp>
      <p:sp>
        <p:nvSpPr>
          <p:cNvPr id="40" name="Text 20"/>
          <p:cNvSpPr txBox="1"/>
          <p:nvPr/>
        </p:nvSpPr>
        <p:spPr>
          <a:xfrm>
            <a:off x="6986016" y="2912154"/>
            <a:ext cx="1874522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000">
                <a:solidFill>
                  <a:srgbClr val="B8D4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Drug Target</a:t>
            </a:r>
          </a:p>
          <a:p>
            <a:pPr algn="ctr">
              <a:defRPr sz="1000">
                <a:solidFill>
                  <a:srgbClr val="B8D4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Prioritisation</a:t>
            </a:r>
          </a:p>
        </p:txBody>
      </p:sp>
      <p:sp>
        <p:nvSpPr>
          <p:cNvPr id="41" name="Text 21"/>
          <p:cNvSpPr txBox="1"/>
          <p:nvPr/>
        </p:nvSpPr>
        <p:spPr>
          <a:xfrm>
            <a:off x="411479" y="3657644"/>
            <a:ext cx="841248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000">
                <a:solidFill>
                  <a:srgbClr val="E9C46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Model: </a:t>
            </a:r>
            <a:r>
              <a:rPr b="0">
                <a:solidFill>
                  <a:srgbClr val="B8D4E8"/>
                </a:solidFill>
              </a:rPr>
              <a:t>GeneFormer V2 (gf-12L-95M-i4096)   </a:t>
            </a:r>
            <a:r>
              <a:t>Dataset: </a:t>
            </a:r>
            <a:r>
              <a:rPr b="0">
                <a:solidFill>
                  <a:srgbClr val="B8D4E8"/>
                </a:solidFill>
              </a:rPr>
              <a:t>Pineda et al. 2024 · BA4 sALS motor cortex · 10-gene panel across 5 ALS pathways</a:t>
            </a:r>
          </a:p>
        </p:txBody>
      </p:sp>
      <p:sp>
        <p:nvSpPr>
          <p:cNvPr id="42" name="Text 22"/>
          <p:cNvSpPr txBox="1"/>
          <p:nvPr/>
        </p:nvSpPr>
        <p:spPr>
          <a:xfrm>
            <a:off x="411479" y="4645659"/>
            <a:ext cx="841248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7A9BB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Monika Sekelja  ·  Helical Coding Challenge  · 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5" name="Shape 1"/>
          <p:cNvSpPr/>
          <p:nvPr/>
        </p:nvSpPr>
        <p:spPr>
          <a:xfrm>
            <a:off x="-1" y="-1"/>
            <a:ext cx="1234442" cy="65837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6" name="Text 2"/>
          <p:cNvSpPr txBox="1"/>
          <p:nvPr/>
        </p:nvSpPr>
        <p:spPr>
          <a:xfrm>
            <a:off x="-1" y="260647"/>
            <a:ext cx="12344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TASK 1</a:t>
            </a:r>
          </a:p>
        </p:txBody>
      </p:sp>
      <p:sp>
        <p:nvSpPr>
          <p:cNvPr id="47" name="Text 3"/>
          <p:cNvSpPr txBox="1"/>
          <p:nvPr/>
        </p:nvSpPr>
        <p:spPr>
          <a:xfrm>
            <a:off x="1325880" y="208360"/>
            <a:ext cx="7680960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InSilico Perturbation Workflow</a:t>
            </a:r>
          </a:p>
        </p:txBody>
      </p:sp>
      <p:sp>
        <p:nvSpPr>
          <p:cNvPr id="48" name="Shape 4"/>
          <p:cNvSpPr/>
          <p:nvPr/>
        </p:nvSpPr>
        <p:spPr>
          <a:xfrm>
            <a:off x="274319" y="804672"/>
            <a:ext cx="4114803" cy="256033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9" name="Text 5"/>
          <p:cNvSpPr txBox="1"/>
          <p:nvPr/>
        </p:nvSpPr>
        <p:spPr>
          <a:xfrm>
            <a:off x="365758" y="869188"/>
            <a:ext cx="40233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OBJECTIVE</a:t>
            </a:r>
          </a:p>
        </p:txBody>
      </p:sp>
      <p:sp>
        <p:nvSpPr>
          <p:cNvPr id="50" name="Shape 6"/>
          <p:cNvSpPr/>
          <p:nvPr/>
        </p:nvSpPr>
        <p:spPr>
          <a:xfrm>
            <a:off x="274319" y="1060702"/>
            <a:ext cx="4114803" cy="777243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1" name="Text 7"/>
          <p:cNvSpPr txBox="1"/>
          <p:nvPr/>
        </p:nvSpPr>
        <p:spPr>
          <a:xfrm>
            <a:off x="365758" y="1078991"/>
            <a:ext cx="3931924" cy="467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1A2B3C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Design a scalable framework to simulate gene knock-down and knock-up events in single-cell data, leveraging GeneFormer V2's rank-value encoding to measure perturbation effects in a biologically informed latent space.</a:t>
            </a:r>
          </a:p>
        </p:txBody>
      </p:sp>
      <p:sp>
        <p:nvSpPr>
          <p:cNvPr id="52" name="Shape 8"/>
          <p:cNvSpPr/>
          <p:nvPr/>
        </p:nvSpPr>
        <p:spPr>
          <a:xfrm>
            <a:off x="274319" y="1947672"/>
            <a:ext cx="4114803" cy="256033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3" name="Text 9"/>
          <p:cNvSpPr txBox="1"/>
          <p:nvPr/>
        </p:nvSpPr>
        <p:spPr>
          <a:xfrm>
            <a:off x="365758" y="2012188"/>
            <a:ext cx="40233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InSilicoPerturbation CLASS — CORE METHODS</a:t>
            </a:r>
          </a:p>
        </p:txBody>
      </p:sp>
      <p:sp>
        <p:nvSpPr>
          <p:cNvPr id="54" name="Shape 10"/>
          <p:cNvSpPr/>
          <p:nvPr/>
        </p:nvSpPr>
        <p:spPr>
          <a:xfrm>
            <a:off x="274319" y="2221992"/>
            <a:ext cx="4114803" cy="512066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5" name="Shape 11"/>
          <p:cNvSpPr/>
          <p:nvPr/>
        </p:nvSpPr>
        <p:spPr>
          <a:xfrm>
            <a:off x="338327" y="2340864"/>
            <a:ext cx="256032" cy="256033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6" name="Text 12"/>
          <p:cNvSpPr txBox="1"/>
          <p:nvPr/>
        </p:nvSpPr>
        <p:spPr>
          <a:xfrm>
            <a:off x="338327" y="2405379"/>
            <a:ext cx="25603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①</a:t>
            </a:r>
          </a:p>
        </p:txBody>
      </p:sp>
      <p:sp>
        <p:nvSpPr>
          <p:cNvPr id="57" name="Text 13"/>
          <p:cNvSpPr txBox="1"/>
          <p:nvPr/>
        </p:nvSpPr>
        <p:spPr>
          <a:xfrm>
            <a:off x="658367" y="2290615"/>
            <a:ext cx="3657603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perturb()</a:t>
            </a:r>
          </a:p>
        </p:txBody>
      </p:sp>
      <p:sp>
        <p:nvSpPr>
          <p:cNvPr id="58" name="Text 14"/>
          <p:cNvSpPr txBox="1"/>
          <p:nvPr/>
        </p:nvSpPr>
        <p:spPr>
          <a:xfrm>
            <a:off x="658367" y="2459734"/>
            <a:ext cx="3657603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Modify expression counts to simulate knock-down (→0) or knock-up (→healthy max) for target genes</a:t>
            </a:r>
          </a:p>
        </p:txBody>
      </p:sp>
      <p:sp>
        <p:nvSpPr>
          <p:cNvPr id="59" name="Shape 15"/>
          <p:cNvSpPr/>
          <p:nvPr/>
        </p:nvSpPr>
        <p:spPr>
          <a:xfrm>
            <a:off x="274319" y="2761488"/>
            <a:ext cx="4114803" cy="512066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0" name="Shape 16"/>
          <p:cNvSpPr/>
          <p:nvPr/>
        </p:nvSpPr>
        <p:spPr>
          <a:xfrm>
            <a:off x="338327" y="2880360"/>
            <a:ext cx="256032" cy="256033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1" name="Text 17"/>
          <p:cNvSpPr txBox="1"/>
          <p:nvPr/>
        </p:nvSpPr>
        <p:spPr>
          <a:xfrm>
            <a:off x="338327" y="2944876"/>
            <a:ext cx="25603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②</a:t>
            </a:r>
          </a:p>
        </p:txBody>
      </p:sp>
      <p:sp>
        <p:nvSpPr>
          <p:cNvPr id="62" name="Text 18"/>
          <p:cNvSpPr txBox="1"/>
          <p:nvPr/>
        </p:nvSpPr>
        <p:spPr>
          <a:xfrm>
            <a:off x="658367" y="2830111"/>
            <a:ext cx="3657603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embed()</a:t>
            </a:r>
          </a:p>
        </p:txBody>
      </p:sp>
      <p:sp>
        <p:nvSpPr>
          <p:cNvPr id="63" name="Text 19"/>
          <p:cNvSpPr txBox="1"/>
          <p:nvPr/>
        </p:nvSpPr>
        <p:spPr>
          <a:xfrm>
            <a:off x="658367" y="2999232"/>
            <a:ext cx="3657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Generate GeneFormer V2 embeddings for paired unperturbed &amp; perturbed cells</a:t>
            </a:r>
          </a:p>
        </p:txBody>
      </p:sp>
      <p:sp>
        <p:nvSpPr>
          <p:cNvPr id="64" name="Shape 20"/>
          <p:cNvSpPr/>
          <p:nvPr/>
        </p:nvSpPr>
        <p:spPr>
          <a:xfrm>
            <a:off x="274319" y="3300984"/>
            <a:ext cx="4114803" cy="512066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5" name="Shape 21"/>
          <p:cNvSpPr/>
          <p:nvPr/>
        </p:nvSpPr>
        <p:spPr>
          <a:xfrm>
            <a:off x="338327" y="3419854"/>
            <a:ext cx="256032" cy="256033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6" name="Text 22"/>
          <p:cNvSpPr txBox="1"/>
          <p:nvPr/>
        </p:nvSpPr>
        <p:spPr>
          <a:xfrm>
            <a:off x="338327" y="3484371"/>
            <a:ext cx="25603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③</a:t>
            </a:r>
          </a:p>
        </p:txBody>
      </p:sp>
      <p:sp>
        <p:nvSpPr>
          <p:cNvPr id="67" name="Text 23"/>
          <p:cNvSpPr txBox="1"/>
          <p:nvPr/>
        </p:nvSpPr>
        <p:spPr>
          <a:xfrm>
            <a:off x="658367" y="3369607"/>
            <a:ext cx="3657603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cosine_shift()</a:t>
            </a:r>
          </a:p>
        </p:txBody>
      </p:sp>
      <p:sp>
        <p:nvSpPr>
          <p:cNvPr id="68" name="Text 24"/>
          <p:cNvSpPr txBox="1"/>
          <p:nvPr/>
        </p:nvSpPr>
        <p:spPr>
          <a:xfrm>
            <a:off x="658367" y="3538728"/>
            <a:ext cx="3657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Measure directional displacement toward the healthy population centroid</a:t>
            </a:r>
          </a:p>
        </p:txBody>
      </p:sp>
      <p:sp>
        <p:nvSpPr>
          <p:cNvPr id="69" name="Shape 25"/>
          <p:cNvSpPr/>
          <p:nvPr/>
        </p:nvSpPr>
        <p:spPr>
          <a:xfrm>
            <a:off x="274319" y="3840479"/>
            <a:ext cx="4114803" cy="512066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70" name="Shape 26"/>
          <p:cNvSpPr/>
          <p:nvPr/>
        </p:nvSpPr>
        <p:spPr>
          <a:xfrm>
            <a:off x="338327" y="3959352"/>
            <a:ext cx="256032" cy="256033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71" name="Text 27"/>
          <p:cNvSpPr txBox="1"/>
          <p:nvPr/>
        </p:nvSpPr>
        <p:spPr>
          <a:xfrm>
            <a:off x="338327" y="4023867"/>
            <a:ext cx="25603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④</a:t>
            </a:r>
          </a:p>
        </p:txBody>
      </p:sp>
      <p:sp>
        <p:nvSpPr>
          <p:cNvPr id="72" name="Text 28"/>
          <p:cNvSpPr txBox="1"/>
          <p:nvPr/>
        </p:nvSpPr>
        <p:spPr>
          <a:xfrm>
            <a:off x="658367" y="3909104"/>
            <a:ext cx="3657603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dose_response()</a:t>
            </a:r>
          </a:p>
        </p:txBody>
      </p:sp>
      <p:sp>
        <p:nvSpPr>
          <p:cNvPr id="73" name="Text 29"/>
          <p:cNvSpPr txBox="1"/>
          <p:nvPr/>
        </p:nvSpPr>
        <p:spPr>
          <a:xfrm>
            <a:off x="658367" y="4078223"/>
            <a:ext cx="3657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Graded perturbation by fraction (e.g.  0%, 25 %, etc)  to characterise response curves</a:t>
            </a:r>
          </a:p>
        </p:txBody>
      </p:sp>
      <p:sp>
        <p:nvSpPr>
          <p:cNvPr id="74" name="Shape 30"/>
          <p:cNvSpPr/>
          <p:nvPr/>
        </p:nvSpPr>
        <p:spPr>
          <a:xfrm>
            <a:off x="274319" y="4379976"/>
            <a:ext cx="4114803" cy="512066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75" name="Shape 31"/>
          <p:cNvSpPr/>
          <p:nvPr/>
        </p:nvSpPr>
        <p:spPr>
          <a:xfrm>
            <a:off x="338327" y="4498847"/>
            <a:ext cx="256032" cy="256033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76" name="Text 32"/>
          <p:cNvSpPr txBox="1"/>
          <p:nvPr/>
        </p:nvSpPr>
        <p:spPr>
          <a:xfrm>
            <a:off x="338327" y="4563362"/>
            <a:ext cx="25603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⑤</a:t>
            </a:r>
          </a:p>
        </p:txBody>
      </p:sp>
      <p:sp>
        <p:nvSpPr>
          <p:cNvPr id="77" name="Text 33"/>
          <p:cNvSpPr txBox="1"/>
          <p:nvPr/>
        </p:nvSpPr>
        <p:spPr>
          <a:xfrm>
            <a:off x="658367" y="4448600"/>
            <a:ext cx="3657603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null_distribution()</a:t>
            </a:r>
          </a:p>
        </p:txBody>
      </p:sp>
      <p:sp>
        <p:nvSpPr>
          <p:cNvPr id="78" name="Text 34"/>
          <p:cNvSpPr txBox="1"/>
          <p:nvPr/>
        </p:nvSpPr>
        <p:spPr>
          <a:xfrm>
            <a:off x="658367" y="4617720"/>
            <a:ext cx="3657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FDR-corrected significance against 20 random-gene perturbations</a:t>
            </a:r>
          </a:p>
        </p:txBody>
      </p:sp>
      <p:sp>
        <p:nvSpPr>
          <p:cNvPr id="79" name="Shape 35"/>
          <p:cNvSpPr/>
          <p:nvPr/>
        </p:nvSpPr>
        <p:spPr>
          <a:xfrm>
            <a:off x="4663440" y="804671"/>
            <a:ext cx="4206242" cy="4114803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</a:ln>
          <a:effectLst>
            <a:outerShdw sx="100000" sy="100000" kx="0" ky="0" algn="b" rotWithShape="0" blurRad="50800" dist="25400" dir="8100000">
              <a:srgbClr val="000000">
                <a:alpha val="10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8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709159" y="877824"/>
            <a:ext cx="4114802" cy="38862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3" name="Shape 1"/>
          <p:cNvSpPr/>
          <p:nvPr/>
        </p:nvSpPr>
        <p:spPr>
          <a:xfrm>
            <a:off x="-1" y="-1"/>
            <a:ext cx="1234442" cy="65837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4" name="Text 2"/>
          <p:cNvSpPr txBox="1"/>
          <p:nvPr/>
        </p:nvSpPr>
        <p:spPr>
          <a:xfrm>
            <a:off x="-1" y="260647"/>
            <a:ext cx="12344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TASK 2</a:t>
            </a:r>
          </a:p>
        </p:txBody>
      </p:sp>
      <p:sp>
        <p:nvSpPr>
          <p:cNvPr id="85" name="Text 3"/>
          <p:cNvSpPr txBox="1"/>
          <p:nvPr/>
        </p:nvSpPr>
        <p:spPr>
          <a:xfrm>
            <a:off x="1325880" y="208360"/>
            <a:ext cx="7680960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ALS-Specific Gene Perturbations via GeneFormer V2</a:t>
            </a:r>
          </a:p>
        </p:txBody>
      </p:sp>
      <p:sp>
        <p:nvSpPr>
          <p:cNvPr id="86" name="Shape 4"/>
          <p:cNvSpPr/>
          <p:nvPr/>
        </p:nvSpPr>
        <p:spPr>
          <a:xfrm>
            <a:off x="274319" y="804672"/>
            <a:ext cx="4114803" cy="274322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7" name="Text 5"/>
          <p:cNvSpPr txBox="1"/>
          <p:nvPr/>
        </p:nvSpPr>
        <p:spPr>
          <a:xfrm>
            <a:off x="365758" y="878332"/>
            <a:ext cx="40233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10-GENE PANEL · 5 ALS PATHOGENIC AXES</a:t>
            </a:r>
          </a:p>
        </p:txBody>
      </p:sp>
      <p:sp>
        <p:nvSpPr>
          <p:cNvPr id="88" name="Shape 6"/>
          <p:cNvSpPr/>
          <p:nvPr/>
        </p:nvSpPr>
        <p:spPr>
          <a:xfrm>
            <a:off x="274320" y="1097280"/>
            <a:ext cx="109730" cy="640082"/>
          </a:xfrm>
          <a:prstGeom prst="rect">
            <a:avLst/>
          </a:prstGeom>
          <a:solidFill>
            <a:srgbClr val="9C27B0"/>
          </a:solidFill>
          <a:ln w="12700">
            <a:solidFill>
              <a:srgbClr val="9C27B0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9" name="Shape 7"/>
          <p:cNvSpPr/>
          <p:nvPr/>
        </p:nvSpPr>
        <p:spPr>
          <a:xfrm>
            <a:off x="384047" y="1097280"/>
            <a:ext cx="4005073" cy="640082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0" name="Text Card 1"/>
          <p:cNvSpPr txBox="1"/>
          <p:nvPr/>
        </p:nvSpPr>
        <p:spPr>
          <a:xfrm>
            <a:off x="521207" y="1189720"/>
            <a:ext cx="3730194" cy="4274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8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TDP-43 Pathway</a:t>
            </a:r>
          </a:p>
          <a:p>
            <a:pPr>
              <a:defRPr sz="700">
                <a:solidFill>
                  <a:srgbClr val="3A4F5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TARDBP, STMN2, UNC13A, POU3F1: Central pathogenic cascade in sALS Betz cells; ~97% of sALS cases. STMN2 restoration produces largest rescue shift (+7.3e-5 cosine).</a:t>
            </a:r>
          </a:p>
        </p:txBody>
      </p:sp>
      <p:sp>
        <p:nvSpPr>
          <p:cNvPr id="91" name="Shape 11"/>
          <p:cNvSpPr/>
          <p:nvPr/>
        </p:nvSpPr>
        <p:spPr>
          <a:xfrm>
            <a:off x="274320" y="1764792"/>
            <a:ext cx="109730" cy="64008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2" name="Shape 12"/>
          <p:cNvSpPr/>
          <p:nvPr/>
        </p:nvSpPr>
        <p:spPr>
          <a:xfrm>
            <a:off x="384047" y="1764792"/>
            <a:ext cx="4005073" cy="640082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3" name="Text Card 2"/>
          <p:cNvSpPr txBox="1"/>
          <p:nvPr/>
        </p:nvSpPr>
        <p:spPr>
          <a:xfrm>
            <a:off x="521207" y="1857231"/>
            <a:ext cx="3730194" cy="4274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8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Axonal Transport</a:t>
            </a:r>
          </a:p>
          <a:p>
            <a:pPr>
              <a:defRPr sz="700">
                <a:solidFill>
                  <a:srgbClr val="3A4F5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DCTN1, DYNC1H1: Dynein-dynactin complex. KD worsens disease state as expected, confirming pathway involvement in disease embedding geometry.</a:t>
            </a:r>
          </a:p>
        </p:txBody>
      </p:sp>
      <p:sp>
        <p:nvSpPr>
          <p:cNvPr id="94" name="Shape 16"/>
          <p:cNvSpPr/>
          <p:nvPr/>
        </p:nvSpPr>
        <p:spPr>
          <a:xfrm>
            <a:off x="274320" y="2432304"/>
            <a:ext cx="109730" cy="64008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5" name="Shape 17"/>
          <p:cNvSpPr/>
          <p:nvPr/>
        </p:nvSpPr>
        <p:spPr>
          <a:xfrm>
            <a:off x="384047" y="2432304"/>
            <a:ext cx="4005073" cy="640082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6" name="Text Card 3"/>
          <p:cNvSpPr txBox="1"/>
          <p:nvPr/>
        </p:nvSpPr>
        <p:spPr>
          <a:xfrm>
            <a:off x="521207" y="2524743"/>
            <a:ext cx="3730194" cy="4274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8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Axon Degeneration</a:t>
            </a:r>
          </a:p>
          <a:p>
            <a:pPr>
              <a:defRPr sz="700">
                <a:solidFill>
                  <a:srgbClr val="3A4F5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SARM1: NAD+-consuming executioner. Second-ranked non-TDP-43 gene in disease cells (d=0.16, p=0.11). Bidirectionally consistent.</a:t>
            </a:r>
          </a:p>
        </p:txBody>
      </p:sp>
      <p:sp>
        <p:nvSpPr>
          <p:cNvPr id="97" name="Shape 21"/>
          <p:cNvSpPr/>
          <p:nvPr/>
        </p:nvSpPr>
        <p:spPr>
          <a:xfrm>
            <a:off x="274320" y="3099816"/>
            <a:ext cx="109730" cy="640082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8" name="Shape 22"/>
          <p:cNvSpPr/>
          <p:nvPr/>
        </p:nvSpPr>
        <p:spPr>
          <a:xfrm>
            <a:off x="384047" y="3099816"/>
            <a:ext cx="4005073" cy="640082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9" name="Text Card 4"/>
          <p:cNvSpPr txBox="1"/>
          <p:nvPr/>
        </p:nvSpPr>
        <p:spPr>
          <a:xfrm>
            <a:off x="521207" y="3192255"/>
            <a:ext cx="3730194" cy="4274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8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DNA Repair / NCT</a:t>
            </a:r>
          </a:p>
          <a:p>
            <a:pPr>
              <a:defRPr sz="700">
                <a:solidFill>
                  <a:srgbClr val="3A4F5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NEK1: GWAS + rare burden gene. KD produces disease-exacerbating shift, consistent with loss of DNA repair function in motor neurons.</a:t>
            </a:r>
          </a:p>
        </p:txBody>
      </p:sp>
      <p:sp>
        <p:nvSpPr>
          <p:cNvPr id="100" name="Shape 26"/>
          <p:cNvSpPr/>
          <p:nvPr/>
        </p:nvSpPr>
        <p:spPr>
          <a:xfrm>
            <a:off x="274320" y="3767328"/>
            <a:ext cx="109730" cy="584161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01" name="Shape 27"/>
          <p:cNvSpPr/>
          <p:nvPr/>
        </p:nvSpPr>
        <p:spPr>
          <a:xfrm>
            <a:off x="384047" y="3767328"/>
            <a:ext cx="4005073" cy="575231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02" name="Text Card 5"/>
          <p:cNvSpPr txBox="1"/>
          <p:nvPr/>
        </p:nvSpPr>
        <p:spPr>
          <a:xfrm>
            <a:off x="521207" y="3859767"/>
            <a:ext cx="3730194" cy="4274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8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Selective Autophagy</a:t>
            </a:r>
          </a:p>
          <a:p>
            <a:pPr>
              <a:defRPr sz="700">
                <a:solidFill>
                  <a:srgbClr val="3A4F5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TBK1, OPTN: Loss-of-function in ALS. TBK1 phosphorylates OPTN for TDP-43 aggregate clearance. Both bidirectionally consistent.</a:t>
            </a:r>
          </a:p>
        </p:txBody>
      </p:sp>
      <p:sp>
        <p:nvSpPr>
          <p:cNvPr id="103" name="Shape 31"/>
          <p:cNvSpPr/>
          <p:nvPr/>
        </p:nvSpPr>
        <p:spPr>
          <a:xfrm>
            <a:off x="274319" y="4384040"/>
            <a:ext cx="4114803" cy="584161"/>
          </a:xfrm>
          <a:prstGeom prst="rect">
            <a:avLst/>
          </a:prstGeom>
          <a:solidFill>
            <a:srgbClr val="E8F5E9"/>
          </a:solidFill>
          <a:ln w="12700">
            <a:solidFill>
              <a:srgbClr val="388E3C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04" name="Text 32"/>
          <p:cNvSpPr txBox="1"/>
          <p:nvPr/>
        </p:nvSpPr>
        <p:spPr>
          <a:xfrm>
            <a:off x="347470" y="4439410"/>
            <a:ext cx="39685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1B5E2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KEY FINDING</a:t>
            </a:r>
          </a:p>
        </p:txBody>
      </p:sp>
      <p:sp>
        <p:nvSpPr>
          <p:cNvPr id="105" name="Text Key Finding"/>
          <p:cNvSpPr txBox="1"/>
          <p:nvPr/>
        </p:nvSpPr>
        <p:spPr>
          <a:xfrm>
            <a:off x="393190" y="4539200"/>
            <a:ext cx="3968498" cy="4147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700">
                <a:solidFill>
                  <a:srgbClr val="1B5E2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STMN2 is the #1 single-gene signal. TDP43_full_axis combination (TARDBP KD + STMN2 + UNC13A restore) is the only statistically significant combination (p=0.012, 2.6x synergy over individual shifts). 0/44 single-gene perturbations reached FDR &lt; 0.05 — fine-tuning is required.</a:t>
            </a:r>
          </a:p>
        </p:txBody>
      </p:sp>
      <p:sp>
        <p:nvSpPr>
          <p:cNvPr id="106" name="Shape 34"/>
          <p:cNvSpPr/>
          <p:nvPr/>
        </p:nvSpPr>
        <p:spPr>
          <a:xfrm>
            <a:off x="4663440" y="804671"/>
            <a:ext cx="4206242" cy="4114803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</a:ln>
          <a:effectLst>
            <a:outerShdw sx="100000" sy="100000" kx="0" ky="0" algn="b" rotWithShape="0" blurRad="50800" dist="25400" dir="8100000">
              <a:srgbClr val="000000">
                <a:alpha val="10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107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709159" y="877824"/>
            <a:ext cx="4114802" cy="38862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0" name="Shape 1"/>
          <p:cNvSpPr/>
          <p:nvPr/>
        </p:nvSpPr>
        <p:spPr>
          <a:xfrm>
            <a:off x="-1" y="-1"/>
            <a:ext cx="1234442" cy="65837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1" name="Text 2"/>
          <p:cNvSpPr txBox="1"/>
          <p:nvPr/>
        </p:nvSpPr>
        <p:spPr>
          <a:xfrm>
            <a:off x="-1" y="260647"/>
            <a:ext cx="12344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TASK 3</a:t>
            </a:r>
          </a:p>
        </p:txBody>
      </p:sp>
      <p:sp>
        <p:nvSpPr>
          <p:cNvPr id="112" name="Text 3"/>
          <p:cNvSpPr txBox="1"/>
          <p:nvPr/>
        </p:nvSpPr>
        <p:spPr>
          <a:xfrm>
            <a:off x="1325880" y="208360"/>
            <a:ext cx="7680960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Embedding Space Interpretation</a:t>
            </a:r>
          </a:p>
        </p:txBody>
      </p:sp>
      <p:sp>
        <p:nvSpPr>
          <p:cNvPr id="113" name="Shape 4"/>
          <p:cNvSpPr/>
          <p:nvPr/>
        </p:nvSpPr>
        <p:spPr>
          <a:xfrm>
            <a:off x="274319" y="804672"/>
            <a:ext cx="4114803" cy="256033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4" name="Text 5"/>
          <p:cNvSpPr txBox="1"/>
          <p:nvPr/>
        </p:nvSpPr>
        <p:spPr>
          <a:xfrm>
            <a:off x="365758" y="869188"/>
            <a:ext cx="40233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5 ANALYTICAL LENSES</a:t>
            </a:r>
          </a:p>
        </p:txBody>
      </p:sp>
      <p:sp>
        <p:nvSpPr>
          <p:cNvPr id="115" name="Shape 6"/>
          <p:cNvSpPr/>
          <p:nvPr/>
        </p:nvSpPr>
        <p:spPr>
          <a:xfrm>
            <a:off x="274319" y="1078991"/>
            <a:ext cx="4114803" cy="731523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6" name="Shape 7"/>
          <p:cNvSpPr/>
          <p:nvPr/>
        </p:nvSpPr>
        <p:spPr>
          <a:xfrm>
            <a:off x="347472" y="1298446"/>
            <a:ext cx="274323" cy="27432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7" name="Text 8"/>
          <p:cNvSpPr txBox="1"/>
          <p:nvPr/>
        </p:nvSpPr>
        <p:spPr>
          <a:xfrm>
            <a:off x="347472" y="1367071"/>
            <a:ext cx="27432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18" name="Text 9"/>
          <p:cNvSpPr txBox="1"/>
          <p:nvPr/>
        </p:nvSpPr>
        <p:spPr>
          <a:xfrm>
            <a:off x="694944" y="1180083"/>
            <a:ext cx="362102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A: Multi-Metric Comparison</a:t>
            </a:r>
          </a:p>
        </p:txBody>
      </p:sp>
      <p:sp>
        <p:nvSpPr>
          <p:cNvPr id="119" name="Text Description 1"/>
          <p:cNvSpPr txBox="1"/>
          <p:nvPr/>
        </p:nvSpPr>
        <p:spPr>
          <a:xfrm>
            <a:off x="694944" y="1320082"/>
            <a:ext cx="3621024" cy="358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STMN2 is a clear outlier: highest cosine shift (~2.1) and on-axis shift (~2.7) simultaneously</a:t>
            </a:r>
          </a:p>
          <a:p>
            <a: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TARDBP scores high on dHNF but near-zero on cosine shift, metrics disagree</a:t>
            </a:r>
          </a:p>
        </p:txBody>
      </p:sp>
      <p:sp>
        <p:nvSpPr>
          <p:cNvPr id="120" name="Shape 11"/>
          <p:cNvSpPr/>
          <p:nvPr/>
        </p:nvSpPr>
        <p:spPr>
          <a:xfrm>
            <a:off x="274319" y="1837944"/>
            <a:ext cx="4114803" cy="731522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1" name="Shape 12"/>
          <p:cNvSpPr/>
          <p:nvPr/>
        </p:nvSpPr>
        <p:spPr>
          <a:xfrm>
            <a:off x="347472" y="2057399"/>
            <a:ext cx="274323" cy="274323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2" name="Text 13"/>
          <p:cNvSpPr txBox="1"/>
          <p:nvPr/>
        </p:nvSpPr>
        <p:spPr>
          <a:xfrm>
            <a:off x="347472" y="2126023"/>
            <a:ext cx="27432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3" name="Text 14"/>
          <p:cNvSpPr txBox="1"/>
          <p:nvPr/>
        </p:nvSpPr>
        <p:spPr>
          <a:xfrm>
            <a:off x="694944" y="1939034"/>
            <a:ext cx="362102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Panel B: Multi-Metric Concordance</a:t>
            </a:r>
          </a:p>
        </p:txBody>
      </p:sp>
      <p:sp>
        <p:nvSpPr>
          <p:cNvPr id="124" name="Text Description 2"/>
          <p:cNvSpPr txBox="1"/>
          <p:nvPr/>
        </p:nvSpPr>
        <p:spPr>
          <a:xfrm>
            <a:off x="694944" y="2079034"/>
            <a:ext cx="3621024" cy="485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STMN2 leads with concordance score ~0.83: its signals agree in direction across all metrics</a:t>
            </a:r>
          </a:p>
          <a:p>
            <a: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TARDBP (~0.65) and TBK1 (~0.55) are the only other genes above the 0.5 threshold</a:t>
            </a:r>
          </a:p>
        </p:txBody>
      </p:sp>
      <p:sp>
        <p:nvSpPr>
          <p:cNvPr id="125" name="Shape 21"/>
          <p:cNvSpPr/>
          <p:nvPr/>
        </p:nvSpPr>
        <p:spPr>
          <a:xfrm>
            <a:off x="274319" y="2644647"/>
            <a:ext cx="4114803" cy="731522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6" name="Shape 22"/>
          <p:cNvSpPr/>
          <p:nvPr/>
        </p:nvSpPr>
        <p:spPr>
          <a:xfrm>
            <a:off x="347472" y="2864103"/>
            <a:ext cx="274323" cy="274323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7" name="Text 23"/>
          <p:cNvSpPr txBox="1"/>
          <p:nvPr/>
        </p:nvSpPr>
        <p:spPr>
          <a:xfrm>
            <a:off x="347472" y="2932727"/>
            <a:ext cx="27432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28" name="Text 24"/>
          <p:cNvSpPr txBox="1"/>
          <p:nvPr/>
        </p:nvSpPr>
        <p:spPr>
          <a:xfrm>
            <a:off x="694944" y="2745738"/>
            <a:ext cx="362102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Panel C: Magnitude vs Specificity</a:t>
            </a:r>
          </a:p>
        </p:txBody>
      </p:sp>
      <p:sp>
        <p:nvSpPr>
          <p:cNvPr id="129" name="Text Description 4"/>
          <p:cNvSpPr txBox="1"/>
          <p:nvPr/>
        </p:nvSpPr>
        <p:spPr>
          <a:xfrm>
            <a:off x="694944" y="2885738"/>
            <a:ext cx="3621024" cy="485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STMN2 is the only gene in the high-magnitude, high-specificity quadrant</a:t>
            </a:r>
          </a:p>
          <a:p>
            <a: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SARM1 has comparable magnitude to STMN2 but near-zero specificity (shift is mostly off-axis)</a:t>
            </a:r>
          </a:p>
        </p:txBody>
      </p:sp>
      <p:sp>
        <p:nvSpPr>
          <p:cNvPr id="130" name="Shape 26"/>
          <p:cNvSpPr/>
          <p:nvPr/>
        </p:nvSpPr>
        <p:spPr>
          <a:xfrm>
            <a:off x="274319" y="3454398"/>
            <a:ext cx="4114803" cy="731523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31" name="Shape 27"/>
          <p:cNvSpPr/>
          <p:nvPr/>
        </p:nvSpPr>
        <p:spPr>
          <a:xfrm>
            <a:off x="347472" y="3623054"/>
            <a:ext cx="274323" cy="274323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32" name="Text 28"/>
          <p:cNvSpPr txBox="1"/>
          <p:nvPr/>
        </p:nvSpPr>
        <p:spPr>
          <a:xfrm>
            <a:off x="347472" y="3691680"/>
            <a:ext cx="27432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3" name="Text 29"/>
          <p:cNvSpPr txBox="1"/>
          <p:nvPr/>
        </p:nvSpPr>
        <p:spPr>
          <a:xfrm>
            <a:off x="694944" y="3555491"/>
            <a:ext cx="362102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Panel D: Integrated Heatmap</a:t>
            </a:r>
          </a:p>
        </p:txBody>
      </p:sp>
      <p:sp>
        <p:nvSpPr>
          <p:cNvPr id="134" name="Text Description 5"/>
          <p:cNvSpPr txBox="1"/>
          <p:nvPr/>
        </p:nvSpPr>
        <p:spPr>
          <a:xfrm>
            <a:off x="694944" y="3695491"/>
            <a:ext cx="3621024" cy="485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STMN2 is the only gene with positive Z-scores across all five metrics</a:t>
            </a:r>
          </a:p>
          <a:p>
            <a: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Every other gene has at least one strongly negative (red) cell… no other gene is consistent across all dimensions</a:t>
            </a:r>
          </a:p>
        </p:txBody>
      </p:sp>
      <p:sp>
        <p:nvSpPr>
          <p:cNvPr id="135" name="Shape 31"/>
          <p:cNvSpPr/>
          <p:nvPr/>
        </p:nvSpPr>
        <p:spPr>
          <a:xfrm>
            <a:off x="4663440" y="804671"/>
            <a:ext cx="4206242" cy="4114803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</a:ln>
          <a:effectLst>
            <a:outerShdw sx="100000" sy="100000" kx="0" ky="0" algn="b" rotWithShape="0" blurRad="50800" dist="25400" dir="8100000">
              <a:srgbClr val="000000">
                <a:alpha val="10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136" name="Image Task3 Summary" descr="Image Task3 Summary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709159" y="839999"/>
            <a:ext cx="4114802" cy="3886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39" name="Shape 1"/>
          <p:cNvSpPr/>
          <p:nvPr/>
        </p:nvSpPr>
        <p:spPr>
          <a:xfrm>
            <a:off x="-1" y="-1"/>
            <a:ext cx="1234442" cy="65837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40" name="Text 2"/>
          <p:cNvSpPr txBox="1"/>
          <p:nvPr/>
        </p:nvSpPr>
        <p:spPr>
          <a:xfrm>
            <a:off x="-1" y="260647"/>
            <a:ext cx="12344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TASK 4</a:t>
            </a:r>
          </a:p>
        </p:txBody>
      </p:sp>
      <p:sp>
        <p:nvSpPr>
          <p:cNvPr id="141" name="Text 3"/>
          <p:cNvSpPr txBox="1"/>
          <p:nvPr/>
        </p:nvSpPr>
        <p:spPr>
          <a:xfrm>
            <a:off x="1325880" y="208360"/>
            <a:ext cx="7680960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Drug Target Prioritisation / Next Steps</a:t>
            </a:r>
          </a:p>
        </p:txBody>
      </p:sp>
      <p:grpSp>
        <p:nvGrpSpPr>
          <p:cNvPr id="144" name="Shape 200"/>
          <p:cNvGrpSpPr/>
          <p:nvPr/>
        </p:nvGrpSpPr>
        <p:grpSpPr>
          <a:xfrm>
            <a:off x="274320" y="730000"/>
            <a:ext cx="4200000" cy="190001"/>
            <a:chOff x="0" y="0"/>
            <a:chExt cx="4199999" cy="190000"/>
          </a:xfrm>
        </p:grpSpPr>
        <p:sp>
          <p:nvSpPr>
            <p:cNvPr id="142" name="Rectangle"/>
            <p:cNvSpPr/>
            <p:nvPr/>
          </p:nvSpPr>
          <p:spPr>
            <a:xfrm>
              <a:off x="0" y="-1"/>
              <a:ext cx="4200000" cy="190002"/>
            </a:xfrm>
            <a:prstGeom prst="rect">
              <a:avLst/>
            </a:prstGeom>
            <a:solidFill>
              <a:srgbClr val="0A2342"/>
            </a:solidFill>
            <a:ln w="12700" cap="flat">
              <a:solidFill>
                <a:srgbClr val="0A2342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43" name="KEY FINDINGS and NEXT STEPS"/>
            <p:cNvSpPr txBox="1"/>
            <p:nvPr/>
          </p:nvSpPr>
          <p:spPr>
            <a:xfrm>
              <a:off x="74930" y="3605"/>
              <a:ext cx="4050140" cy="1827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859" tIns="22859" rIns="22859" bIns="22859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lvl1pPr>
            </a:lstStyle>
            <a:p>
              <a:pPr/>
              <a:r>
                <a:t>KEY FINDINGS and NEXT STEPS</a:t>
              </a:r>
            </a:p>
          </p:txBody>
        </p:sp>
      </p:grpSp>
      <p:sp>
        <p:nvSpPr>
          <p:cNvPr id="145" name="Shape 201"/>
          <p:cNvSpPr/>
          <p:nvPr/>
        </p:nvSpPr>
        <p:spPr>
          <a:xfrm>
            <a:off x="274320" y="1544600"/>
            <a:ext cx="4200000" cy="504561"/>
          </a:xfrm>
          <a:prstGeom prst="rect">
            <a:avLst/>
          </a:prstGeom>
          <a:solidFill>
            <a:srgbClr val="E4F3F3"/>
          </a:solidFill>
          <a:ln>
            <a:solidFill>
              <a:srgbClr val="B8DFE0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46" name="Shape 202"/>
          <p:cNvSpPr/>
          <p:nvPr/>
        </p:nvSpPr>
        <p:spPr>
          <a:xfrm>
            <a:off x="274320" y="1544600"/>
            <a:ext cx="72001" cy="4529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47" name="Text 203"/>
          <p:cNvSpPr txBox="1"/>
          <p:nvPr/>
        </p:nvSpPr>
        <p:spPr>
          <a:xfrm>
            <a:off x="389179" y="1565740"/>
            <a:ext cx="4062282" cy="3225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2859" tIns="22859" rIns="22859" bIns="22859">
            <a:spAutoFit/>
          </a:bodyPr>
          <a:lstStyle/>
          <a:p>
            <a:pPr>
              <a:defRPr b="1" sz="900">
                <a:solidFill>
                  <a:srgbClr val="0E7C7B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STMN2 restore</a:t>
            </a:r>
          </a:p>
          <a:p>
            <a:pPr>
              <a:lnSpc>
                <a:spcPts val="1100"/>
              </a:lnSpc>
              <a:defRPr i="1" sz="800">
                <a:solidFill>
                  <a:srgbClr val="2A5A6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QRL-201 (TDP-43 splicing modulator) in Phase 1/2 clinical trials</a:t>
            </a:r>
          </a:p>
        </p:txBody>
      </p:sp>
      <p:sp>
        <p:nvSpPr>
          <p:cNvPr id="148" name="Shape 204"/>
          <p:cNvSpPr/>
          <p:nvPr/>
        </p:nvSpPr>
        <p:spPr>
          <a:xfrm>
            <a:off x="274320" y="2043099"/>
            <a:ext cx="4190475" cy="550899"/>
          </a:xfrm>
          <a:prstGeom prst="rect">
            <a:avLst/>
          </a:prstGeom>
          <a:solidFill>
            <a:srgbClr val="FEF3E6"/>
          </a:solidFill>
          <a:ln>
            <a:solidFill>
              <a:srgbClr val="F5CFAA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49" name="Shape 205"/>
          <p:cNvSpPr/>
          <p:nvPr/>
        </p:nvSpPr>
        <p:spPr>
          <a:xfrm>
            <a:off x="274320" y="2043099"/>
            <a:ext cx="72001" cy="550899"/>
          </a:xfrm>
          <a:prstGeom prst="rect">
            <a:avLst/>
          </a:prstGeom>
          <a:solidFill>
            <a:srgbClr val="C96A1F"/>
          </a:solidFill>
          <a:ln w="12700">
            <a:solidFill>
              <a:srgbClr val="C96A1F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0" name="Shape 207"/>
          <p:cNvSpPr/>
          <p:nvPr/>
        </p:nvSpPr>
        <p:spPr>
          <a:xfrm>
            <a:off x="274320" y="2613199"/>
            <a:ext cx="4190475" cy="554074"/>
          </a:xfrm>
          <a:prstGeom prst="rect">
            <a:avLst/>
          </a:prstGeom>
          <a:solidFill>
            <a:srgbClr val="EAF0F8"/>
          </a:solidFill>
          <a:ln>
            <a:solidFill>
              <a:srgbClr val="BACED9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1" name="Shape 208"/>
          <p:cNvSpPr/>
          <p:nvPr/>
        </p:nvSpPr>
        <p:spPr>
          <a:xfrm>
            <a:off x="274320" y="2613199"/>
            <a:ext cx="72001" cy="554074"/>
          </a:xfrm>
          <a:prstGeom prst="rect">
            <a:avLst/>
          </a:prstGeom>
          <a:solidFill>
            <a:srgbClr val="2C5F8A"/>
          </a:solidFill>
          <a:ln w="12700">
            <a:solidFill>
              <a:srgbClr val="2C5F8A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2" name="Text 209"/>
          <p:cNvSpPr txBox="1"/>
          <p:nvPr/>
        </p:nvSpPr>
        <p:spPr>
          <a:xfrm>
            <a:off x="389179" y="2634341"/>
            <a:ext cx="4062282" cy="322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2859" tIns="22859" rIns="22859" bIns="22859">
            <a:spAutoFit/>
          </a:bodyPr>
          <a:lstStyle/>
          <a:p>
            <a:pPr>
              <a:defRPr b="1" sz="900">
                <a:solidFill>
                  <a:srgbClr val="2C5F8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OPTN KD</a:t>
            </a:r>
          </a:p>
          <a:p>
            <a:pPr>
              <a:lnSpc>
                <a:spcPts val="1100"/>
              </a:lnSpc>
              <a:defRPr i="1" sz="800">
                <a:solidFill>
                  <a:srgbClr val="2A5A6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validate autophagy-axis rescue in VAT1L+ and SCN4B+ cells</a:t>
            </a:r>
          </a:p>
        </p:txBody>
      </p:sp>
      <p:sp>
        <p:nvSpPr>
          <p:cNvPr id="153" name="Text 251"/>
          <p:cNvSpPr txBox="1"/>
          <p:nvPr/>
        </p:nvSpPr>
        <p:spPr>
          <a:xfrm>
            <a:off x="4842860" y="5799999"/>
            <a:ext cx="4003960" cy="2650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2859" tIns="22859" rIns="22859" bIns="22859">
            <a:spAutoFit/>
          </a:bodyPr>
          <a:lstStyle>
            <a:lvl1pPr algn="ctr">
              <a:defRPr i="1" sz="700">
                <a:solidFill>
                  <a:srgbClr val="3A5A6A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Bidirectional consistency: STMN2 uniquely in rescue quadrant (Δcos &gt; 0 &amp; bidirectional ✓). Only gene satisfying all 6 convergence criteria.</a:t>
            </a:r>
          </a:p>
        </p:txBody>
      </p:sp>
      <p:pic>
        <p:nvPicPr>
          <p:cNvPr id="154" name="task4_ranking_decomposition.png" descr="task4_ranking_decomposition.png"/>
          <p:cNvPicPr>
            <a:picLocks noChangeAspect="1"/>
          </p:cNvPicPr>
          <p:nvPr/>
        </p:nvPicPr>
        <p:blipFill>
          <a:blip r:embed="rId2">
            <a:extLst/>
          </a:blip>
          <a:srcRect l="0" t="0" r="49516" b="0"/>
          <a:stretch>
            <a:fillRect/>
          </a:stretch>
        </p:blipFill>
        <p:spPr>
          <a:xfrm>
            <a:off x="4690896" y="785695"/>
            <a:ext cx="3872303" cy="3378083"/>
          </a:xfrm>
          <a:prstGeom prst="rect">
            <a:avLst/>
          </a:prstGeom>
          <a:ln w="12700">
            <a:miter lim="400000"/>
          </a:ln>
        </p:spPr>
      </p:pic>
      <p:sp>
        <p:nvSpPr>
          <p:cNvPr id="155" name="Text 203"/>
          <p:cNvSpPr txBox="1"/>
          <p:nvPr/>
        </p:nvSpPr>
        <p:spPr>
          <a:xfrm>
            <a:off x="368580" y="2069018"/>
            <a:ext cx="4062280" cy="322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2859" tIns="22859" rIns="22859" bIns="22859">
            <a:spAutoFit/>
          </a:bodyPr>
          <a:lstStyle/>
          <a:p>
            <a:pPr>
              <a:defRPr b="1" sz="900">
                <a:solidFill>
                  <a:srgbClr val="0E7C7B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SARM1 KD</a:t>
            </a:r>
          </a:p>
          <a:p>
            <a:pPr>
              <a:lnSpc>
                <a:spcPts val="1100"/>
              </a:lnSpc>
              <a:defRPr i="1" sz="800">
                <a:solidFill>
                  <a:srgbClr val="2A5A6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VAT1L+ neurons using clinical-stage NADase inhibitor</a:t>
            </a:r>
          </a:p>
        </p:txBody>
      </p:sp>
      <p:sp>
        <p:nvSpPr>
          <p:cNvPr id="156" name="Shape 201"/>
          <p:cNvSpPr/>
          <p:nvPr/>
        </p:nvSpPr>
        <p:spPr>
          <a:xfrm>
            <a:off x="275113" y="994178"/>
            <a:ext cx="4200001" cy="504561"/>
          </a:xfrm>
          <a:prstGeom prst="rect">
            <a:avLst/>
          </a:prstGeom>
          <a:solidFill>
            <a:srgbClr val="F3CCB0"/>
          </a:solidFill>
          <a:ln>
            <a:solidFill>
              <a:srgbClr val="B8DFE0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7" name="Shape 202"/>
          <p:cNvSpPr/>
          <p:nvPr/>
        </p:nvSpPr>
        <p:spPr>
          <a:xfrm>
            <a:off x="275113" y="994178"/>
            <a:ext cx="72001" cy="497691"/>
          </a:xfrm>
          <a:prstGeom prst="rect">
            <a:avLst/>
          </a:prstGeom>
          <a:solidFill>
            <a:srgbClr val="B21710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8" name="Text 203"/>
          <p:cNvSpPr txBox="1"/>
          <p:nvPr/>
        </p:nvSpPr>
        <p:spPr>
          <a:xfrm>
            <a:off x="389973" y="1015319"/>
            <a:ext cx="4062281" cy="4622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2859" tIns="22859" rIns="22859" bIns="22859">
            <a:spAutoFit/>
          </a:bodyPr>
          <a:lstStyle/>
          <a:p>
            <a:pPr>
              <a:defRPr b="1" sz="900">
                <a:solidFill>
                  <a:srgbClr val="0E7C7B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FINE-TUNE! </a:t>
            </a:r>
          </a:p>
          <a:p>
            <a:pPr>
              <a:defRPr b="1" sz="900">
                <a:solidFill>
                  <a:srgbClr val="0E7C7B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#1 Priority </a:t>
            </a:r>
          </a:p>
        </p:txBody>
      </p:sp>
      <p:sp>
        <p:nvSpPr>
          <p:cNvPr id="159" name="Shape 207"/>
          <p:cNvSpPr/>
          <p:nvPr/>
        </p:nvSpPr>
        <p:spPr>
          <a:xfrm>
            <a:off x="279876" y="3209291"/>
            <a:ext cx="4190476" cy="554073"/>
          </a:xfrm>
          <a:prstGeom prst="rect">
            <a:avLst/>
          </a:prstGeom>
          <a:solidFill>
            <a:srgbClr val="EAF0F8"/>
          </a:solidFill>
          <a:ln>
            <a:solidFill>
              <a:srgbClr val="BACED9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0" name="Shape 208"/>
          <p:cNvSpPr/>
          <p:nvPr/>
        </p:nvSpPr>
        <p:spPr>
          <a:xfrm>
            <a:off x="279876" y="3209291"/>
            <a:ext cx="72001" cy="554073"/>
          </a:xfrm>
          <a:prstGeom prst="rect">
            <a:avLst/>
          </a:prstGeom>
          <a:solidFill>
            <a:srgbClr val="2C5F8A"/>
          </a:solidFill>
          <a:ln w="12700">
            <a:solidFill>
              <a:srgbClr val="2C5F8A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1" name="Text 209"/>
          <p:cNvSpPr txBox="1"/>
          <p:nvPr/>
        </p:nvSpPr>
        <p:spPr>
          <a:xfrm>
            <a:off x="394736" y="3230432"/>
            <a:ext cx="4062281" cy="2998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2859" tIns="22859" rIns="22859" bIns="22859">
            <a:spAutoFit/>
          </a:bodyPr>
          <a:lstStyle/>
          <a:p>
            <a:pPr>
              <a:defRPr b="1" sz="900">
                <a:solidFill>
                  <a:srgbClr val="2C5F8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Try restore on the current gene panel</a:t>
            </a:r>
          </a:p>
          <a:p>
            <a:pPr>
              <a:defRPr b="1" sz="900">
                <a:solidFill>
                  <a:srgbClr val="2C5F8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Review the gene panel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